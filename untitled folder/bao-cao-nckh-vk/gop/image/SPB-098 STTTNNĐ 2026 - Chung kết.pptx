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65" r:id="rId2"/>
    <p:sldId id="257" r:id="rId3"/>
    <p:sldId id="266" r:id="rId4"/>
    <p:sldId id="258" r:id="rId5"/>
    <p:sldId id="261" r:id="rId6"/>
    <p:sldId id="262" r:id="rId7"/>
    <p:sldId id="264" r:id="rId8"/>
    <p:sldId id="267" r:id="rId9"/>
    <p:sldId id="268" r:id="rId10"/>
    <p:sldId id="269" r:id="rId11"/>
    <p:sldId id="271" r:id="rId12"/>
    <p:sldId id="270" r:id="rId13"/>
    <p:sldId id="273" r:id="rId14"/>
  </p:sldIdLst>
  <p:sldSz cx="18288000" cy="10287000"/>
  <p:notesSz cx="6858000" cy="9144000"/>
  <p:embeddedFontLst>
    <p:embeddedFont>
      <p:font typeface="Bevan" pitchFamily="2" charset="77"/>
      <p:regular r:id="rId16"/>
    </p:embeddedFont>
    <p:embeddedFont>
      <p:font typeface="Palatino Linotype" panose="02040502050505030304" pitchFamily="18"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620EA32-75E6-D64D-A3B4-93655972945A}">
          <p14:sldIdLst>
            <p14:sldId id="265"/>
            <p14:sldId id="257"/>
          </p14:sldIdLst>
        </p14:section>
        <p14:section name="tính cấp thiết" id="{96253F59-2660-8B47-B49A-B2B9FE55E988}">
          <p14:sldIdLst>
            <p14:sldId id="266"/>
          </p14:sldIdLst>
        </p14:section>
        <p14:section name="TÍNH SÁNG TẠO" id="{D26044F9-AB05-7440-82F6-7DB6328681A5}">
          <p14:sldIdLst>
            <p14:sldId id="258"/>
          </p14:sldIdLst>
        </p14:section>
        <p14:section name="CẤU TẠO" id="{1132335C-3EA5-0A4F-BACE-D60B4422DE86}">
          <p14:sldIdLst>
            <p14:sldId id="261"/>
            <p14:sldId id="262"/>
            <p14:sldId id="264"/>
          </p14:sldIdLst>
        </p14:section>
        <p14:section name="THUẬT TOÁN" id="{432BFB6A-74F3-3045-BBE9-2870D4D25CA8}">
          <p14:sldIdLst>
            <p14:sldId id="267"/>
          </p14:sldIdLst>
        </p14:section>
        <p14:section name="ỨNG DỤNG" id="{C508F428-FDE4-1B49-ADB0-E394D57C39FE}">
          <p14:sldIdLst>
            <p14:sldId id="268"/>
          </p14:sldIdLst>
        </p14:section>
        <p14:section name="HIỆU QUẢ THỰC NGHIỆM" id="{62BEFFCF-AF56-4741-A878-E78D81FC8CB9}">
          <p14:sldIdLst>
            <p14:sldId id="269"/>
            <p14:sldId id="271"/>
          </p14:sldIdLst>
        </p14:section>
        <p14:section name="HƯỚNG PHÁT TRIỂN" id="{6F0F24A8-CD96-7943-9537-8D1AEA49D81A}">
          <p14:sldIdLst>
            <p14:sldId id="270"/>
            <p14:sldId id="27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99"/>
    <a:srgbClr val="001F60"/>
    <a:srgbClr val="984708"/>
    <a:srgbClr val="28AF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25" autoAdjust="0"/>
    <p:restoredTop sz="94490" autoAdjust="0"/>
  </p:normalViewPr>
  <p:slideViewPr>
    <p:cSldViewPr>
      <p:cViewPr varScale="1">
        <p:scale>
          <a:sx n="121" d="100"/>
          <a:sy n="121" d="100"/>
        </p:scale>
        <p:origin x="640" y="-3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FB9ADA-F283-5C48-BE63-2896CA0CC8C4}" type="datetimeFigureOut">
              <a:rPr lang="en-VN" smtClean="0"/>
              <a:t>18/6/26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67B9DD-35AD-6E4E-A898-8D551E977B12}" type="slidenum">
              <a:rPr lang="en-VN" smtClean="0"/>
              <a:t>‹#›</a:t>
            </a:fld>
            <a:endParaRPr lang="en-VN"/>
          </a:p>
        </p:txBody>
      </p:sp>
    </p:spTree>
    <p:extLst>
      <p:ext uri="{BB962C8B-B14F-4D97-AF65-F5344CB8AC3E}">
        <p14:creationId xmlns:p14="http://schemas.microsoft.com/office/powerpoint/2010/main" val="50555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Nga ơi, trên canvas có hiệu ứng Morph không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dirty="0"/>
              <a:t>Giá thành đắt vì khi mua linh kiện, mỗi linh kiện là một sản phẩm hoàn chỉnh và người mua chịu nhiều loại thuế và phí vận chuyển từ nước ngoài về Việt Nam. </a:t>
            </a:r>
          </a:p>
          <a:p>
            <a:endParaRPr lang="en-VN" dirty="0"/>
          </a:p>
        </p:txBody>
      </p:sp>
      <p:sp>
        <p:nvSpPr>
          <p:cNvPr id="4" name="Slide Number Placeholder 3"/>
          <p:cNvSpPr>
            <a:spLocks noGrp="1"/>
          </p:cNvSpPr>
          <p:nvPr>
            <p:ph type="sldNum" sz="quarter" idx="5"/>
          </p:nvPr>
        </p:nvSpPr>
        <p:spPr/>
        <p:txBody>
          <a:bodyPr/>
          <a:lstStyle/>
          <a:p>
            <a:fld id="{9067B9DD-35AD-6E4E-A898-8D551E977B12}" type="slidenum">
              <a:rPr lang="en-VN" smtClean="0"/>
              <a:t>11</a:t>
            </a:fld>
            <a:endParaRPr lang="en-VN"/>
          </a:p>
        </p:txBody>
      </p:sp>
    </p:spTree>
    <p:extLst>
      <p:ext uri="{BB962C8B-B14F-4D97-AF65-F5344CB8AC3E}">
        <p14:creationId xmlns:p14="http://schemas.microsoft.com/office/powerpoint/2010/main" val="2077853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20.png"/><Relationship Id="rId7" Type="http://schemas.openxmlformats.org/officeDocument/2006/relationships/image" Target="../media/image23.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7.png"/><Relationship Id="rId9" Type="http://schemas.openxmlformats.org/officeDocument/2006/relationships/image" Target="../media/image25.sv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3066FF">
                <a:alpha val="100000"/>
              </a:srgbClr>
            </a:gs>
            <a:gs pos="20000">
              <a:srgbClr val="587BFF">
                <a:alpha val="100000"/>
              </a:srgbClr>
            </a:gs>
            <a:gs pos="40000">
              <a:srgbClr val="7A89FE">
                <a:alpha val="100000"/>
              </a:srgbClr>
            </a:gs>
            <a:gs pos="60000">
              <a:srgbClr val="AFA6FF">
                <a:alpha val="100000"/>
              </a:srgbClr>
            </a:gs>
            <a:gs pos="80000">
              <a:srgbClr val="CCB5FE">
                <a:alpha val="100000"/>
              </a:srgbClr>
            </a:gs>
            <a:gs pos="100000">
              <a:srgbClr val="C391F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1606625" y="1217532"/>
            <a:ext cx="6681375" cy="4613903"/>
          </a:xfrm>
          <a:custGeom>
            <a:avLst/>
            <a:gdLst/>
            <a:ahLst/>
            <a:cxnLst/>
            <a:rect l="l" t="t" r="r" b="b"/>
            <a:pathLst>
              <a:path w="6681375" h="4613903">
                <a:moveTo>
                  <a:pt x="0" y="0"/>
                </a:moveTo>
                <a:lnTo>
                  <a:pt x="6681375" y="0"/>
                </a:lnTo>
                <a:lnTo>
                  <a:pt x="6681375" y="4613904"/>
                </a:lnTo>
                <a:lnTo>
                  <a:pt x="0" y="4613904"/>
                </a:lnTo>
                <a:lnTo>
                  <a:pt x="0" y="0"/>
                </a:lnTo>
                <a:close/>
              </a:path>
            </a:pathLst>
          </a:custGeom>
          <a:blipFill>
            <a:blip r:embed="rId2"/>
            <a:stretch>
              <a:fillRect l="-51097" t="-17435" b="-10136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p:cNvSpPr/>
          <p:nvPr/>
        </p:nvSpPr>
        <p:spPr>
          <a:xfrm flipH="1">
            <a:off x="-3957" y="1217532"/>
            <a:ext cx="6681375" cy="4613903"/>
          </a:xfrm>
          <a:custGeom>
            <a:avLst/>
            <a:gdLst/>
            <a:ahLst/>
            <a:cxnLst/>
            <a:rect l="l" t="t" r="r" b="b"/>
            <a:pathLst>
              <a:path w="6681375" h="4613903">
                <a:moveTo>
                  <a:pt x="6681374" y="0"/>
                </a:moveTo>
                <a:lnTo>
                  <a:pt x="0" y="0"/>
                </a:lnTo>
                <a:lnTo>
                  <a:pt x="0" y="4613904"/>
                </a:lnTo>
                <a:lnTo>
                  <a:pt x="6681374" y="4613904"/>
                </a:lnTo>
                <a:lnTo>
                  <a:pt x="6681374" y="0"/>
                </a:lnTo>
                <a:close/>
              </a:path>
            </a:pathLst>
          </a:custGeom>
          <a:blipFill>
            <a:blip r:embed="rId2"/>
            <a:stretch>
              <a:fillRect l="-51097" t="-17435" b="-10136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4" name="Group 4"/>
          <p:cNvGrpSpPr/>
          <p:nvPr/>
        </p:nvGrpSpPr>
        <p:grpSpPr>
          <a:xfrm>
            <a:off x="0" y="0"/>
            <a:ext cx="18288000" cy="2491105"/>
            <a:chOff x="0" y="0"/>
            <a:chExt cx="24384000" cy="3321474"/>
          </a:xfrm>
        </p:grpSpPr>
        <p:grpSp>
          <p:nvGrpSpPr>
            <p:cNvPr id="5" name="Group 5"/>
            <p:cNvGrpSpPr/>
            <p:nvPr/>
          </p:nvGrpSpPr>
          <p:grpSpPr>
            <a:xfrm>
              <a:off x="18505326" y="771923"/>
              <a:ext cx="1571494" cy="157149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Freeform 7"/>
            <p:cNvSpPr/>
            <p:nvPr/>
          </p:nvSpPr>
          <p:spPr>
            <a:xfrm>
              <a:off x="0" y="0"/>
              <a:ext cx="24384000" cy="3321474"/>
            </a:xfrm>
            <a:custGeom>
              <a:avLst/>
              <a:gdLst/>
              <a:ahLst/>
              <a:cxnLst/>
              <a:rect l="l" t="t" r="r" b="b"/>
              <a:pathLst>
                <a:path w="24384000" h="3321474">
                  <a:moveTo>
                    <a:pt x="0" y="0"/>
                  </a:moveTo>
                  <a:lnTo>
                    <a:pt x="24384000" y="0"/>
                  </a:lnTo>
                  <a:lnTo>
                    <a:pt x="24384000" y="3321474"/>
                  </a:lnTo>
                  <a:lnTo>
                    <a:pt x="0" y="3321474"/>
                  </a:lnTo>
                  <a:lnTo>
                    <a:pt x="0" y="0"/>
                  </a:lnTo>
                  <a:close/>
                </a:path>
              </a:pathLst>
            </a:custGeom>
            <a:blipFill>
              <a:blip r:embed="rId4"/>
              <a:stretch>
                <a:fillRect l="-4145" t="-19874" r="-4145" b="-67512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p:cNvSpPr/>
            <p:nvPr/>
          </p:nvSpPr>
          <p:spPr>
            <a:xfrm>
              <a:off x="8903223" y="931525"/>
              <a:ext cx="1423238" cy="1383703"/>
            </a:xfrm>
            <a:custGeom>
              <a:avLst/>
              <a:gdLst/>
              <a:ahLst/>
              <a:cxnLst/>
              <a:rect l="l" t="t" r="r" b="b"/>
              <a:pathLst>
                <a:path w="1423238" h="1383703">
                  <a:moveTo>
                    <a:pt x="0" y="0"/>
                  </a:moveTo>
                  <a:lnTo>
                    <a:pt x="1423238" y="0"/>
                  </a:lnTo>
                  <a:lnTo>
                    <a:pt x="1423238" y="1383703"/>
                  </a:lnTo>
                  <a:lnTo>
                    <a:pt x="0" y="1383703"/>
                  </a:lnTo>
                  <a:lnTo>
                    <a:pt x="0" y="0"/>
                  </a:lnTo>
                  <a:close/>
                </a:path>
              </a:pathLst>
            </a:custGeom>
            <a:blipFill>
              <a:blip r:embed="rId5"/>
              <a:stretch>
                <a:fillRect l="-663888" t="-109999" r="-1013888" b="-161857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Freeform 9"/>
          <p:cNvSpPr/>
          <p:nvPr/>
        </p:nvSpPr>
        <p:spPr>
          <a:xfrm>
            <a:off x="-12780" y="2305727"/>
            <a:ext cx="18288000" cy="8610734"/>
          </a:xfrm>
          <a:custGeom>
            <a:avLst/>
            <a:gdLst/>
            <a:ahLst/>
            <a:cxnLst/>
            <a:rect l="l" t="t" r="r" b="b"/>
            <a:pathLst>
              <a:path w="18288000" h="8610734">
                <a:moveTo>
                  <a:pt x="0" y="0"/>
                </a:moveTo>
                <a:lnTo>
                  <a:pt x="18288000" y="0"/>
                </a:lnTo>
                <a:lnTo>
                  <a:pt x="18288000" y="8610735"/>
                </a:lnTo>
                <a:lnTo>
                  <a:pt x="0" y="8610735"/>
                </a:lnTo>
                <a:lnTo>
                  <a:pt x="0" y="0"/>
                </a:lnTo>
                <a:close/>
              </a:path>
            </a:pathLst>
          </a:custGeom>
          <a:blipFill>
            <a:blip r:embed="rId6"/>
            <a:stretch>
              <a:fillRect t="-26724" b="-1477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Freeform 13"/>
          <p:cNvSpPr/>
          <p:nvPr/>
        </p:nvSpPr>
        <p:spPr>
          <a:xfrm>
            <a:off x="-257455" y="1571132"/>
            <a:ext cx="5134255" cy="4779191"/>
          </a:xfrm>
          <a:custGeom>
            <a:avLst/>
            <a:gdLst/>
            <a:ahLst/>
            <a:cxnLst/>
            <a:rect l="l" t="t" r="r" b="b"/>
            <a:pathLst>
              <a:path w="4006847" h="4006847">
                <a:moveTo>
                  <a:pt x="0" y="0"/>
                </a:moveTo>
                <a:lnTo>
                  <a:pt x="4006847" y="0"/>
                </a:lnTo>
                <a:lnTo>
                  <a:pt x="4006847" y="4006847"/>
                </a:lnTo>
                <a:lnTo>
                  <a:pt x="0" y="4006847"/>
                </a:lnTo>
                <a:lnTo>
                  <a:pt x="0" y="0"/>
                </a:lnTo>
                <a:close/>
              </a:path>
            </a:pathLst>
          </a:custGeom>
          <a:blipFill>
            <a:blip r:embed="rId7"/>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p:cNvSpPr txBox="1"/>
          <p:nvPr/>
        </p:nvSpPr>
        <p:spPr>
          <a:xfrm>
            <a:off x="6694244" y="2533118"/>
            <a:ext cx="4162197" cy="1308050"/>
          </a:xfrm>
          <a:prstGeom prst="rect">
            <a:avLst/>
          </a:prstGeom>
        </p:spPr>
        <p:txBody>
          <a:bodyPr lIns="0" tIns="0" rIns="0" bIns="0" rtlCol="0" anchor="t">
            <a:spAutoFit/>
          </a:bodyPr>
          <a:lstStyle/>
          <a:p>
            <a:pPr marL="0" marR="0" lvl="0" indent="0" algn="ctr" defTabSz="914400" rtl="0" eaLnBrk="1" fontAlgn="auto" latinLnBrk="0" hangingPunct="1">
              <a:lnSpc>
                <a:spcPts val="5117"/>
              </a:lnSpc>
              <a:spcBef>
                <a:spcPts val="0"/>
              </a:spcBef>
              <a:spcAft>
                <a:spcPts val="0"/>
              </a:spcAft>
              <a:buClrTx/>
              <a:buSzTx/>
              <a:buFontTx/>
              <a:buNone/>
              <a:tabLst/>
              <a:defRPr/>
            </a:pPr>
            <a:r>
              <a:rPr kumimoji="0" lang="en-US" sz="3655" b="1" i="0" u="none" strike="noStrike" kern="1200" cap="none" spc="0" normalizeH="0" baseline="0" noProof="0" dirty="0" err="1">
                <a:ln>
                  <a:solidFill>
                    <a:schemeClr val="bg1"/>
                  </a:solidFill>
                </a:ln>
                <a:solidFill>
                  <a:srgbClr val="FF0000"/>
                </a:solidFill>
                <a:effectLst/>
                <a:uLnTx/>
                <a:uFillTx/>
                <a:latin typeface="Palatino Linotype" panose="02040502050505030304" pitchFamily="18" charset="0"/>
                <a:ea typeface="Alfa Slab One"/>
                <a:cs typeface="Alfa Slab One"/>
                <a:sym typeface="Alfa Slab One"/>
              </a:rPr>
              <a:t>Sản</a:t>
            </a:r>
            <a:r>
              <a:rPr kumimoji="0" lang="en-US" sz="3655" b="1" i="0" u="none" strike="noStrike" kern="1200" cap="none" spc="0" normalizeH="0" baseline="0" noProof="0" dirty="0">
                <a:ln>
                  <a:solidFill>
                    <a:schemeClr val="bg1"/>
                  </a:solidFill>
                </a:ln>
                <a:solidFill>
                  <a:srgbClr val="FF0000"/>
                </a:solidFill>
                <a:effectLst/>
                <a:uLnTx/>
                <a:uFillTx/>
                <a:latin typeface="Palatino Linotype" panose="02040502050505030304" pitchFamily="18" charset="0"/>
                <a:ea typeface="Alfa Slab One"/>
                <a:cs typeface="Alfa Slab One"/>
                <a:sym typeface="Alfa Slab One"/>
              </a:rPr>
              <a:t> </a:t>
            </a:r>
            <a:r>
              <a:rPr kumimoji="0" lang="en-US" sz="3655" b="1" i="0" u="none" strike="noStrike" kern="1200" cap="none" spc="0" normalizeH="0" baseline="0" noProof="0" dirty="0" err="1">
                <a:ln>
                  <a:solidFill>
                    <a:schemeClr val="bg1"/>
                  </a:solidFill>
                </a:ln>
                <a:solidFill>
                  <a:srgbClr val="FF0000"/>
                </a:solidFill>
                <a:effectLst/>
                <a:uLnTx/>
                <a:uFillTx/>
                <a:latin typeface="Palatino Linotype" panose="02040502050505030304" pitchFamily="18" charset="0"/>
                <a:ea typeface="Alfa Slab One"/>
                <a:cs typeface="Alfa Slab One"/>
                <a:sym typeface="Alfa Slab One"/>
              </a:rPr>
              <a:t>phẩm</a:t>
            </a:r>
            <a:r>
              <a:rPr kumimoji="0" lang="en-US" sz="3655" b="1" i="0" u="none" strike="noStrike" kern="1200" cap="none" spc="0" normalizeH="0" baseline="0" noProof="0" dirty="0">
                <a:ln>
                  <a:solidFill>
                    <a:schemeClr val="bg1"/>
                  </a:solidFill>
                </a:ln>
                <a:solidFill>
                  <a:srgbClr val="FF0000"/>
                </a:solidFill>
                <a:effectLst/>
                <a:uLnTx/>
                <a:uFillTx/>
                <a:latin typeface="Palatino Linotype" panose="02040502050505030304" pitchFamily="18" charset="0"/>
                <a:ea typeface="Alfa Slab One"/>
                <a:cs typeface="Alfa Slab One"/>
                <a:sym typeface="Alfa Slab One"/>
              </a:rPr>
              <a:t> </a:t>
            </a:r>
            <a:r>
              <a:rPr kumimoji="0" lang="en-US" sz="3655" b="1" i="0" u="none" strike="noStrike" kern="1200" cap="none" spc="0" normalizeH="0" baseline="0" noProof="0" dirty="0" err="1">
                <a:ln>
                  <a:solidFill>
                    <a:schemeClr val="bg1"/>
                  </a:solidFill>
                </a:ln>
                <a:solidFill>
                  <a:srgbClr val="FF0000"/>
                </a:solidFill>
                <a:effectLst/>
                <a:uLnTx/>
                <a:uFillTx/>
                <a:latin typeface="Palatino Linotype" panose="02040502050505030304" pitchFamily="18" charset="0"/>
                <a:ea typeface="Alfa Slab One"/>
                <a:cs typeface="Alfa Slab One"/>
                <a:sym typeface="Alfa Slab One"/>
              </a:rPr>
              <a:t>dự</a:t>
            </a:r>
            <a:r>
              <a:rPr kumimoji="0" lang="en-US" sz="3655" b="1" i="0" u="none" strike="noStrike" kern="1200" cap="none" spc="0" normalizeH="0" baseline="0" noProof="0" dirty="0">
                <a:ln>
                  <a:solidFill>
                    <a:schemeClr val="bg1"/>
                  </a:solidFill>
                </a:ln>
                <a:solidFill>
                  <a:srgbClr val="FF0000"/>
                </a:solidFill>
                <a:effectLst/>
                <a:uLnTx/>
                <a:uFillTx/>
                <a:latin typeface="Palatino Linotype" panose="02040502050505030304" pitchFamily="18" charset="0"/>
                <a:ea typeface="Alfa Slab One"/>
                <a:cs typeface="Alfa Slab One"/>
                <a:sym typeface="Alfa Slab One"/>
              </a:rPr>
              <a:t> </a:t>
            </a:r>
            <a:r>
              <a:rPr kumimoji="0" lang="en-US" sz="3655" b="1" i="0" u="none" strike="noStrike" kern="1200" cap="none" spc="0" normalizeH="0" baseline="0" noProof="0" dirty="0" err="1">
                <a:ln>
                  <a:solidFill>
                    <a:schemeClr val="bg1"/>
                  </a:solidFill>
                </a:ln>
                <a:solidFill>
                  <a:srgbClr val="FF0000"/>
                </a:solidFill>
                <a:effectLst/>
                <a:uLnTx/>
                <a:uFillTx/>
                <a:latin typeface="Palatino Linotype" panose="02040502050505030304" pitchFamily="18" charset="0"/>
                <a:ea typeface="Alfa Slab One"/>
                <a:cs typeface="Alfa Slab One"/>
                <a:sym typeface="Alfa Slab One"/>
              </a:rPr>
              <a:t>thi</a:t>
            </a:r>
            <a:r>
              <a:rPr kumimoji="0" lang="en-US" sz="3655" b="1" i="0" u="none" strike="noStrike" kern="1200" cap="none" spc="0" normalizeH="0" baseline="0" noProof="0" dirty="0">
                <a:ln>
                  <a:solidFill>
                    <a:schemeClr val="bg1"/>
                  </a:solidFill>
                </a:ln>
                <a:solidFill>
                  <a:srgbClr val="FF0000"/>
                </a:solidFill>
                <a:effectLst/>
                <a:uLnTx/>
                <a:uFillTx/>
                <a:latin typeface="Palatino Linotype" panose="02040502050505030304" pitchFamily="18" charset="0"/>
                <a:ea typeface="Alfa Slab One"/>
                <a:cs typeface="Alfa Slab One"/>
                <a:sym typeface="Alfa Slab One"/>
              </a:rPr>
              <a:t>:</a:t>
            </a:r>
          </a:p>
          <a:p>
            <a:pPr marL="0" marR="0" lvl="0" indent="0" algn="ctr" defTabSz="914400" rtl="0" eaLnBrk="1" fontAlgn="auto" latinLnBrk="0" hangingPunct="1">
              <a:lnSpc>
                <a:spcPts val="5117"/>
              </a:lnSpc>
              <a:spcBef>
                <a:spcPts val="0"/>
              </a:spcBef>
              <a:spcAft>
                <a:spcPts val="0"/>
              </a:spcAft>
              <a:buClrTx/>
              <a:buSzTx/>
              <a:buFontTx/>
              <a:buNone/>
              <a:tabLst/>
              <a:defRPr/>
            </a:pPr>
            <a:r>
              <a:rPr kumimoji="0" lang="en-US" sz="4800" b="1" i="0" u="none" strike="noStrike" kern="1200" cap="none" spc="0" normalizeH="0" baseline="0" noProof="0" dirty="0">
                <a:ln>
                  <a:solidFill>
                    <a:schemeClr val="bg1"/>
                  </a:solidFill>
                </a:ln>
                <a:solidFill>
                  <a:srgbClr val="FF0000"/>
                </a:solidFill>
                <a:effectLst/>
                <a:uLnTx/>
                <a:uFillTx/>
                <a:latin typeface="Palatino Linotype" panose="02040502050505030304" pitchFamily="18" charset="0"/>
                <a:ea typeface="Alfa Slab One"/>
                <a:cs typeface="Alfa Slab One"/>
                <a:sym typeface="Alfa Slab One"/>
              </a:rPr>
              <a:t>SPB-098</a:t>
            </a:r>
          </a:p>
        </p:txBody>
      </p:sp>
      <p:sp>
        <p:nvSpPr>
          <p:cNvPr id="15" name="TextBox 15"/>
          <p:cNvSpPr txBox="1"/>
          <p:nvPr/>
        </p:nvSpPr>
        <p:spPr>
          <a:xfrm>
            <a:off x="2971800" y="5156735"/>
            <a:ext cx="11506200" cy="2511970"/>
          </a:xfrm>
          <a:prstGeom prst="rect">
            <a:avLst/>
          </a:prstGeom>
        </p:spPr>
        <p:txBody>
          <a:bodyPr wrap="square" lIns="0" tIns="0" rIns="0" bIns="0" rtlCol="0" anchor="t">
            <a:spAutoFit/>
          </a:bodyPr>
          <a:lstStyle/>
          <a:p>
            <a:pPr marL="0" marR="0" lvl="0" indent="0" algn="ctr" defTabSz="914400" rtl="0" eaLnBrk="1" fontAlgn="auto" latinLnBrk="0" hangingPunct="1">
              <a:lnSpc>
                <a:spcPts val="6562"/>
              </a:lnSpc>
              <a:spcBef>
                <a:spcPts val="0"/>
              </a:spcBef>
              <a:spcAft>
                <a:spcPts val="0"/>
              </a:spcAft>
              <a:buClrTx/>
              <a:buSzTx/>
              <a:buFontTx/>
              <a:buNone/>
              <a:tabLst/>
              <a:defRPr/>
            </a:pP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Thiết</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bị</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đeo</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thông</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minh</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hỗ</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trợ</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người</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khiếm</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thị</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phân</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loại</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rác</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thải</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dựa</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trên</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trí</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tuệ</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nhân</a:t>
            </a:r>
            <a:r>
              <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rPr>
              <a:t> </a:t>
            </a:r>
            <a:r>
              <a:rPr kumimoji="0" lang="en-US" sz="5400" b="1" i="0" u="none" strike="noStrike" kern="1200" cap="none" spc="0" normalizeH="0" baseline="0" noProof="0" dirty="0" err="1">
                <a:ln>
                  <a:noFill/>
                </a:ln>
                <a:solidFill>
                  <a:srgbClr val="1520E1"/>
                </a:solidFill>
                <a:effectLst/>
                <a:uLnTx/>
                <a:uFillTx/>
                <a:latin typeface="Palatino Linotype" panose="02040502050505030304" pitchFamily="18" charset="0"/>
                <a:ea typeface="Bevan"/>
                <a:cs typeface="Bevan"/>
                <a:sym typeface="Bevan"/>
              </a:rPr>
              <a:t>tạo</a:t>
            </a:r>
            <a:endParaRPr kumimoji="0" lang="en-US" sz="5400" b="1" i="0" u="none" strike="noStrike" kern="1200" cap="none" spc="0" normalizeH="0" baseline="0" noProof="0" dirty="0">
              <a:ln>
                <a:noFill/>
              </a:ln>
              <a:solidFill>
                <a:srgbClr val="1520E1"/>
              </a:solidFill>
              <a:effectLst/>
              <a:uLnTx/>
              <a:uFillTx/>
              <a:latin typeface="Palatino Linotype" panose="02040502050505030304" pitchFamily="18" charset="0"/>
              <a:ea typeface="Bevan"/>
              <a:cs typeface="Bevan"/>
              <a:sym typeface="Bevan"/>
            </a:endParaRPr>
          </a:p>
        </p:txBody>
      </p:sp>
      <p:grpSp>
        <p:nvGrpSpPr>
          <p:cNvPr id="16" name="Group 16"/>
          <p:cNvGrpSpPr/>
          <p:nvPr/>
        </p:nvGrpSpPr>
        <p:grpSpPr>
          <a:xfrm>
            <a:off x="6758716" y="4163296"/>
            <a:ext cx="4290284" cy="867833"/>
            <a:chOff x="0" y="0"/>
            <a:chExt cx="1129951" cy="228565"/>
          </a:xfrm>
        </p:grpSpPr>
        <p:sp>
          <p:nvSpPr>
            <p:cNvPr id="17" name="Freeform 17"/>
            <p:cNvSpPr/>
            <p:nvPr/>
          </p:nvSpPr>
          <p:spPr>
            <a:xfrm>
              <a:off x="0" y="0"/>
              <a:ext cx="1079236" cy="228565"/>
            </a:xfrm>
            <a:custGeom>
              <a:avLst/>
              <a:gdLst/>
              <a:ahLst/>
              <a:cxnLst/>
              <a:rect l="l" t="t" r="r" b="b"/>
              <a:pathLst>
                <a:path w="1079236" h="228565">
                  <a:moveTo>
                    <a:pt x="96355" y="0"/>
                  </a:moveTo>
                  <a:lnTo>
                    <a:pt x="982881" y="0"/>
                  </a:lnTo>
                  <a:cubicBezTo>
                    <a:pt x="1036096" y="0"/>
                    <a:pt x="1079236" y="43140"/>
                    <a:pt x="1079236" y="96355"/>
                  </a:cubicBezTo>
                  <a:lnTo>
                    <a:pt x="1079236" y="132210"/>
                  </a:lnTo>
                  <a:cubicBezTo>
                    <a:pt x="1079236" y="185425"/>
                    <a:pt x="1036096" y="228565"/>
                    <a:pt x="982881" y="228565"/>
                  </a:cubicBezTo>
                  <a:lnTo>
                    <a:pt x="96355" y="228565"/>
                  </a:lnTo>
                  <a:cubicBezTo>
                    <a:pt x="43140" y="228565"/>
                    <a:pt x="0" y="185425"/>
                    <a:pt x="0" y="132210"/>
                  </a:cubicBezTo>
                  <a:lnTo>
                    <a:pt x="0" y="96355"/>
                  </a:lnTo>
                  <a:cubicBezTo>
                    <a:pt x="0" y="43140"/>
                    <a:pt x="43140" y="0"/>
                    <a:pt x="96355" y="0"/>
                  </a:cubicBezTo>
                  <a:close/>
                </a:path>
              </a:pathLst>
            </a:custGeom>
            <a:gradFill rotWithShape="1">
              <a:gsLst>
                <a:gs pos="0">
                  <a:srgbClr val="8C01BF">
                    <a:alpha val="100000"/>
                  </a:srgbClr>
                </a:gs>
                <a:gs pos="50000">
                  <a:srgbClr val="5C09C5">
                    <a:alpha val="100000"/>
                  </a:srgbClr>
                </a:gs>
                <a:gs pos="100000">
                  <a:srgbClr val="4F03E9">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8"/>
            <p:cNvSpPr txBox="1"/>
            <p:nvPr/>
          </p:nvSpPr>
          <p:spPr>
            <a:xfrm>
              <a:off x="0" y="0"/>
              <a:ext cx="1129951" cy="228565"/>
            </a:xfrm>
            <a:prstGeom prst="rect">
              <a:avLst/>
            </a:prstGeom>
          </p:spPr>
          <p:txBody>
            <a:bodyPr lIns="50800" tIns="50800" rIns="50800" bIns="50800" rtlCol="0" anchor="ctr"/>
            <a:lstStyle/>
            <a:p>
              <a:pPr marL="0" marR="0" lvl="0" indent="0" algn="ctr" defTabSz="914400" rtl="0" eaLnBrk="1" fontAlgn="auto" latinLnBrk="0" hangingPunct="1">
                <a:lnSpc>
                  <a:spcPts val="4479"/>
                </a:lnSpc>
                <a:spcBef>
                  <a:spcPct val="0"/>
                </a:spcBef>
                <a:spcAft>
                  <a:spcPts val="0"/>
                </a:spcAft>
                <a:buClrTx/>
                <a:buSzTx/>
                <a:buFontTx/>
                <a:buNone/>
                <a:tabLst/>
                <a:defRPr/>
              </a:pPr>
              <a:r>
                <a:rPr kumimoji="0" lang="en-US" sz="3199" b="0" i="0" u="none" strike="noStrike" kern="1200" cap="none" spc="316" normalizeH="0" baseline="0" noProof="0" dirty="0">
                  <a:ln>
                    <a:noFill/>
                  </a:ln>
                  <a:solidFill>
                    <a:srgbClr val="FFFFFF"/>
                  </a:solidFill>
                  <a:effectLst/>
                  <a:uLnTx/>
                  <a:uFillTx/>
                  <a:latin typeface="Bevan"/>
                  <a:ea typeface="Bevan"/>
                  <a:cs typeface="Bevan"/>
                  <a:sym typeface="Bevan"/>
                </a:rPr>
                <a:t>AI-GREEN EYE</a:t>
              </a:r>
            </a:p>
          </p:txBody>
        </p:sp>
      </p:grpSp>
      <p:sp>
        <p:nvSpPr>
          <p:cNvPr id="19" name="TextBox 19"/>
          <p:cNvSpPr txBox="1"/>
          <p:nvPr/>
        </p:nvSpPr>
        <p:spPr>
          <a:xfrm>
            <a:off x="7211131" y="7668705"/>
            <a:ext cx="10496124" cy="2273186"/>
          </a:xfrm>
          <a:prstGeom prst="rect">
            <a:avLst/>
          </a:prstGeom>
        </p:spPr>
        <p:txBody>
          <a:bodyPr wrap="square" lIns="0" tIns="0" rIns="0" bIns="0" rtlCol="0" anchor="t">
            <a:spAutoFit/>
          </a:bodyPr>
          <a:lstStyle/>
          <a:p>
            <a:pPr marL="0" marR="0" lvl="0" indent="0" defTabSz="914400" rtl="0" eaLnBrk="1" fontAlgn="auto" latinLnBrk="0" hangingPunct="1">
              <a:lnSpc>
                <a:spcPts val="4474"/>
              </a:lnSpc>
              <a:spcBef>
                <a:spcPts val="0"/>
              </a:spcBef>
              <a:spcAft>
                <a:spcPts val="0"/>
              </a:spcAft>
              <a:buClrTx/>
              <a:buSzTx/>
              <a:buFontTx/>
              <a:buNone/>
              <a:tabLst/>
              <a:defRPr/>
            </a:pPr>
            <a:r>
              <a:rPr kumimoji="0" lang="en-US" sz="3196" b="1" i="0" u="none" strike="noStrike" kern="1200" cap="none" spc="0" normalizeH="0" baseline="0" noProof="0" dirty="0" err="1">
                <a:ln>
                  <a:noFill/>
                </a:ln>
                <a:solidFill>
                  <a:srgbClr val="00B0F0"/>
                </a:solidFill>
                <a:effectLst/>
                <a:uLnTx/>
                <a:uFillTx/>
                <a:latin typeface="Palatino Linotype" panose="02040502050505030304" pitchFamily="18" charset="0"/>
                <a:ea typeface="Bevan"/>
                <a:cs typeface="Bevan"/>
                <a:sym typeface="Bevan"/>
              </a:rPr>
              <a:t>Người</a:t>
            </a:r>
            <a:r>
              <a:rPr kumimoji="0" lang="en-US" sz="3196" b="1" i="0" u="none" strike="noStrike" kern="1200" cap="none" spc="0" normalizeH="0" baseline="0" noProof="0" dirty="0">
                <a:ln>
                  <a:noFill/>
                </a:ln>
                <a:solidFill>
                  <a:srgbClr val="00B0F0"/>
                </a:solidFill>
                <a:effectLst/>
                <a:uLnTx/>
                <a:uFillTx/>
                <a:latin typeface="Palatino Linotype" panose="02040502050505030304" pitchFamily="18" charset="0"/>
                <a:ea typeface="Bevan"/>
                <a:cs typeface="Bevan"/>
                <a:sym typeface="Bevan"/>
              </a:rPr>
              <a:t> </a:t>
            </a:r>
            <a:r>
              <a:rPr kumimoji="0" lang="en-US" sz="3196" b="1" i="0" u="none" strike="noStrike" kern="1200" cap="none" spc="0" normalizeH="0" baseline="0" noProof="0" dirty="0" err="1">
                <a:ln>
                  <a:noFill/>
                </a:ln>
                <a:solidFill>
                  <a:srgbClr val="00B0F0"/>
                </a:solidFill>
                <a:effectLst/>
                <a:uLnTx/>
                <a:uFillTx/>
                <a:latin typeface="Palatino Linotype" panose="02040502050505030304" pitchFamily="18" charset="0"/>
                <a:ea typeface="Bevan"/>
                <a:cs typeface="Bevan"/>
                <a:sym typeface="Bevan"/>
              </a:rPr>
              <a:t>thực</a:t>
            </a:r>
            <a:r>
              <a:rPr kumimoji="0" lang="en-US" sz="3196" b="1" i="0" u="none" strike="noStrike" kern="1200" cap="none" spc="0" normalizeH="0" baseline="0" noProof="0" dirty="0">
                <a:ln>
                  <a:noFill/>
                </a:ln>
                <a:solidFill>
                  <a:srgbClr val="00B0F0"/>
                </a:solidFill>
                <a:effectLst/>
                <a:uLnTx/>
                <a:uFillTx/>
                <a:latin typeface="Palatino Linotype" panose="02040502050505030304" pitchFamily="18" charset="0"/>
                <a:ea typeface="Bevan"/>
                <a:cs typeface="Bevan"/>
                <a:sym typeface="Bevan"/>
              </a:rPr>
              <a:t> </a:t>
            </a:r>
            <a:r>
              <a:rPr kumimoji="0" lang="en-US" sz="3196" b="1" i="0" u="none" strike="noStrike" kern="1200" cap="none" spc="0" normalizeH="0" baseline="0" noProof="0" dirty="0" err="1">
                <a:ln>
                  <a:noFill/>
                </a:ln>
                <a:solidFill>
                  <a:srgbClr val="00B0F0"/>
                </a:solidFill>
                <a:effectLst/>
                <a:uLnTx/>
                <a:uFillTx/>
                <a:latin typeface="Palatino Linotype" panose="02040502050505030304" pitchFamily="18" charset="0"/>
                <a:ea typeface="Bevan"/>
                <a:cs typeface="Bevan"/>
                <a:sym typeface="Bevan"/>
              </a:rPr>
              <a:t>hiện</a:t>
            </a:r>
            <a:r>
              <a:rPr kumimoji="0" lang="en-US" sz="3196" b="1" i="0" u="none" strike="noStrike" kern="1200" cap="none" spc="0" normalizeH="0" baseline="0" noProof="0" dirty="0">
                <a:ln>
                  <a:noFill/>
                </a:ln>
                <a:solidFill>
                  <a:srgbClr val="00B0F0"/>
                </a:solidFill>
                <a:effectLst/>
                <a:uLnTx/>
                <a:uFillTx/>
                <a:latin typeface="Palatino Linotype" panose="02040502050505030304" pitchFamily="18" charset="0"/>
                <a:ea typeface="Bevan"/>
                <a:cs typeface="Bevan"/>
                <a:sym typeface="Bevan"/>
              </a:rPr>
              <a:t>:</a:t>
            </a:r>
          </a:p>
          <a:p>
            <a:pPr marL="0" marR="0" lvl="0" indent="0" defTabSz="914400" rtl="0" eaLnBrk="1" fontAlgn="auto" latinLnBrk="0" hangingPunct="1">
              <a:lnSpc>
                <a:spcPts val="4474"/>
              </a:lnSpc>
              <a:spcBef>
                <a:spcPts val="0"/>
              </a:spcBef>
              <a:spcAft>
                <a:spcPts val="0"/>
              </a:spcAft>
              <a:buClrTx/>
              <a:buSzTx/>
              <a:buFontTx/>
              <a:buNone/>
              <a:tabLst/>
              <a:defRPr/>
            </a:pPr>
            <a:r>
              <a:rPr kumimoji="0" lang="en-US" sz="3196" b="1" i="0" u="none" strike="noStrike" kern="1200" cap="none" spc="0" normalizeH="0" baseline="0" noProof="0" dirty="0">
                <a:ln>
                  <a:noFill/>
                </a:ln>
                <a:solidFill>
                  <a:srgbClr val="006699"/>
                </a:solidFill>
                <a:effectLst/>
                <a:uLnTx/>
                <a:uFillTx/>
                <a:latin typeface="Palatino Linotype" panose="02040502050505030304" pitchFamily="18" charset="0"/>
                <a:ea typeface="Bevan"/>
                <a:cs typeface="Bevan"/>
                <a:sym typeface="Bevan"/>
              </a:rPr>
              <a:t>1. </a:t>
            </a:r>
            <a:r>
              <a:rPr kumimoji="0" lang="en-US" sz="3196" b="1" i="0" u="none" strike="noStrike" kern="1200" cap="none" spc="0" normalizeH="0" baseline="0" noProof="0" dirty="0" err="1">
                <a:ln>
                  <a:noFill/>
                </a:ln>
                <a:solidFill>
                  <a:srgbClr val="006699"/>
                </a:solidFill>
                <a:effectLst/>
                <a:uLnTx/>
                <a:uFillTx/>
                <a:latin typeface="Palatino Linotype" panose="02040502050505030304" pitchFamily="18" charset="0"/>
                <a:ea typeface="Bevan"/>
                <a:cs typeface="Bevan"/>
                <a:sym typeface="Bevan"/>
              </a:rPr>
              <a:t>Trần</a:t>
            </a:r>
            <a:r>
              <a:rPr kumimoji="0" lang="en-US" sz="3196" b="1" i="0" u="none" strike="noStrike" kern="1200" cap="none" spc="0" normalizeH="0" baseline="0" noProof="0" dirty="0">
                <a:ln>
                  <a:noFill/>
                </a:ln>
                <a:solidFill>
                  <a:srgbClr val="006699"/>
                </a:solidFill>
                <a:effectLst/>
                <a:uLnTx/>
                <a:uFillTx/>
                <a:latin typeface="Palatino Linotype" panose="02040502050505030304" pitchFamily="18" charset="0"/>
                <a:ea typeface="Bevan"/>
                <a:cs typeface="Bevan"/>
                <a:sym typeface="Bevan"/>
              </a:rPr>
              <a:t> Trung Hiếu</a:t>
            </a:r>
          </a:p>
          <a:p>
            <a:pPr marL="0" marR="0" lvl="0" indent="0" defTabSz="914400" rtl="0" eaLnBrk="1" fontAlgn="auto" latinLnBrk="0" hangingPunct="1">
              <a:lnSpc>
                <a:spcPts val="4474"/>
              </a:lnSpc>
              <a:spcBef>
                <a:spcPts val="0"/>
              </a:spcBef>
              <a:spcAft>
                <a:spcPts val="0"/>
              </a:spcAft>
              <a:buClrTx/>
              <a:buSzTx/>
              <a:buFontTx/>
              <a:buNone/>
              <a:tabLst/>
              <a:defRPr/>
            </a:pPr>
            <a:r>
              <a:rPr kumimoji="0" lang="en-US" sz="3196" b="1" i="0" u="none" strike="noStrike" kern="1200" cap="none" spc="0" normalizeH="0" baseline="0" noProof="0" dirty="0">
                <a:ln>
                  <a:noFill/>
                </a:ln>
                <a:solidFill>
                  <a:srgbClr val="006699"/>
                </a:solidFill>
                <a:effectLst/>
                <a:uLnTx/>
                <a:uFillTx/>
                <a:latin typeface="Palatino Linotype" panose="02040502050505030304" pitchFamily="18" charset="0"/>
                <a:ea typeface="Bevan"/>
                <a:cs typeface="Bevan"/>
                <a:sym typeface="Bevan"/>
              </a:rPr>
              <a:t>2. Nguyễn Hoàng Thiên Nga</a:t>
            </a:r>
          </a:p>
          <a:p>
            <a:pPr marL="0" marR="0" lvl="0" indent="0" defTabSz="914400" rtl="0" eaLnBrk="1" fontAlgn="auto" latinLnBrk="0" hangingPunct="1">
              <a:lnSpc>
                <a:spcPts val="4474"/>
              </a:lnSpc>
              <a:spcBef>
                <a:spcPts val="0"/>
              </a:spcBef>
              <a:spcAft>
                <a:spcPts val="0"/>
              </a:spcAft>
              <a:buClrTx/>
              <a:buSzTx/>
              <a:buFontTx/>
              <a:buNone/>
              <a:tabLst/>
              <a:defRPr/>
            </a:pPr>
            <a:r>
              <a:rPr lang="en-US" sz="3196" b="1" dirty="0">
                <a:solidFill>
                  <a:srgbClr val="006699"/>
                </a:solidFill>
                <a:latin typeface="Palatino Linotype" panose="02040502050505030304" pitchFamily="18" charset="0"/>
                <a:ea typeface="Bevan"/>
                <a:cs typeface="Bevan"/>
                <a:sym typeface="Bevan"/>
              </a:rPr>
              <a:t>TRƯỜNG: THCS Phan Văn </a:t>
            </a:r>
            <a:r>
              <a:rPr lang="en-US" sz="3196" b="1" dirty="0" err="1">
                <a:solidFill>
                  <a:srgbClr val="006699"/>
                </a:solidFill>
                <a:latin typeface="Palatino Linotype" panose="02040502050505030304" pitchFamily="18" charset="0"/>
                <a:ea typeface="Bevan"/>
                <a:cs typeface="Bevan"/>
                <a:sym typeface="Bevan"/>
              </a:rPr>
              <a:t>Trị</a:t>
            </a:r>
            <a:r>
              <a:rPr lang="en-US" sz="3196" b="1" dirty="0">
                <a:solidFill>
                  <a:srgbClr val="006699"/>
                </a:solidFill>
                <a:latin typeface="Palatino Linotype" panose="02040502050505030304" pitchFamily="18" charset="0"/>
                <a:ea typeface="Bevan"/>
                <a:cs typeface="Bevan"/>
                <a:sym typeface="Bevan"/>
              </a:rPr>
              <a:t>, </a:t>
            </a:r>
            <a:r>
              <a:rPr lang="en-US" sz="3196" b="1" dirty="0" err="1">
                <a:solidFill>
                  <a:srgbClr val="006699"/>
                </a:solidFill>
                <a:latin typeface="Palatino Linotype" panose="02040502050505030304" pitchFamily="18" charset="0"/>
                <a:ea typeface="Bevan"/>
                <a:cs typeface="Bevan"/>
                <a:sym typeface="Bevan"/>
              </a:rPr>
              <a:t>Phường</a:t>
            </a:r>
            <a:r>
              <a:rPr lang="en-US" sz="3196" b="1" dirty="0">
                <a:solidFill>
                  <a:srgbClr val="006699"/>
                </a:solidFill>
                <a:latin typeface="Palatino Linotype" panose="02040502050505030304" pitchFamily="18" charset="0"/>
                <a:ea typeface="Bevan"/>
                <a:cs typeface="Bevan"/>
                <a:sym typeface="Bevan"/>
              </a:rPr>
              <a:t> </a:t>
            </a:r>
            <a:r>
              <a:rPr lang="en-US" sz="3196" b="1" dirty="0" err="1">
                <a:solidFill>
                  <a:srgbClr val="006699"/>
                </a:solidFill>
                <a:latin typeface="Palatino Linotype" panose="02040502050505030304" pitchFamily="18" charset="0"/>
                <a:ea typeface="Bevan"/>
                <a:cs typeface="Bevan"/>
                <a:sym typeface="Bevan"/>
              </a:rPr>
              <a:t>Hạnh</a:t>
            </a:r>
            <a:r>
              <a:rPr lang="en-US" sz="3196" b="1" dirty="0">
                <a:solidFill>
                  <a:srgbClr val="006699"/>
                </a:solidFill>
                <a:latin typeface="Palatino Linotype" panose="02040502050505030304" pitchFamily="18" charset="0"/>
                <a:ea typeface="Bevan"/>
                <a:cs typeface="Bevan"/>
                <a:sym typeface="Bevan"/>
              </a:rPr>
              <a:t> Thông</a:t>
            </a:r>
            <a:endParaRPr kumimoji="0" lang="en-US" sz="3196" b="1" i="0" u="none" strike="noStrike" kern="1200" cap="none" spc="0" normalizeH="0" baseline="0" noProof="0" dirty="0">
              <a:ln>
                <a:noFill/>
              </a:ln>
              <a:solidFill>
                <a:srgbClr val="006699"/>
              </a:solidFill>
              <a:effectLst/>
              <a:uLnTx/>
              <a:uFillTx/>
              <a:latin typeface="Palatino Linotype" panose="02040502050505030304" pitchFamily="18" charset="0"/>
              <a:ea typeface="Bevan"/>
              <a:cs typeface="Bevan"/>
              <a:sym typeface="Bevan"/>
            </a:endParaRPr>
          </a:p>
        </p:txBody>
      </p:sp>
      <p:sp>
        <p:nvSpPr>
          <p:cNvPr id="23" name="Freeform 25">
            <a:extLst>
              <a:ext uri="{FF2B5EF4-FFF2-40B4-BE49-F238E27FC236}">
                <a16:creationId xmlns:a16="http://schemas.microsoft.com/office/drawing/2014/main" id="{7F120E0A-8C69-2942-8892-27EBAAB1D39F}"/>
              </a:ext>
            </a:extLst>
          </p:cNvPr>
          <p:cNvSpPr/>
          <p:nvPr/>
        </p:nvSpPr>
        <p:spPr>
          <a:xfrm>
            <a:off x="12899699" y="2082740"/>
            <a:ext cx="5022280" cy="3707752"/>
          </a:xfrm>
          <a:custGeom>
            <a:avLst/>
            <a:gdLst/>
            <a:ahLst/>
            <a:cxnLst/>
            <a:rect l="l" t="t" r="r" b="b"/>
            <a:pathLst>
              <a:path w="9502490" h="6331034">
                <a:moveTo>
                  <a:pt x="0" y="0"/>
                </a:moveTo>
                <a:lnTo>
                  <a:pt x="9502490" y="0"/>
                </a:lnTo>
                <a:lnTo>
                  <a:pt x="9502490" y="6331034"/>
                </a:lnTo>
                <a:lnTo>
                  <a:pt x="0" y="6331034"/>
                </a:lnTo>
                <a:lnTo>
                  <a:pt x="0" y="0"/>
                </a:lnTo>
                <a:close/>
              </a:path>
            </a:pathLst>
          </a:custGeom>
          <a:blipFill>
            <a:blip r:embed="rId8"/>
            <a:stretch>
              <a:fillRect/>
            </a:stretch>
          </a:blipFill>
        </p:spPr>
        <p:txBody>
          <a:bodyPr/>
          <a:lstStyle/>
          <a:p>
            <a:endParaRPr lang="en-V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3066FF">
                <a:alpha val="100000"/>
              </a:srgbClr>
            </a:gs>
            <a:gs pos="20000">
              <a:srgbClr val="587BFF">
                <a:alpha val="100000"/>
              </a:srgbClr>
            </a:gs>
            <a:gs pos="40000">
              <a:srgbClr val="7A89FE">
                <a:alpha val="100000"/>
              </a:srgbClr>
            </a:gs>
            <a:gs pos="60000">
              <a:srgbClr val="AFA6FF">
                <a:alpha val="100000"/>
              </a:srgbClr>
            </a:gs>
            <a:gs pos="80000">
              <a:srgbClr val="CCB5FE">
                <a:alpha val="100000"/>
              </a:srgbClr>
            </a:gs>
            <a:gs pos="100000">
              <a:srgbClr val="C391F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1606625" y="1217532"/>
            <a:ext cx="6681375" cy="4613903"/>
          </a:xfrm>
          <a:custGeom>
            <a:avLst/>
            <a:gdLst/>
            <a:ahLst/>
            <a:cxnLst/>
            <a:rect l="l" t="t" r="r" b="b"/>
            <a:pathLst>
              <a:path w="6681375" h="4613903">
                <a:moveTo>
                  <a:pt x="0" y="0"/>
                </a:moveTo>
                <a:lnTo>
                  <a:pt x="6681375" y="0"/>
                </a:lnTo>
                <a:lnTo>
                  <a:pt x="6681375" y="4613904"/>
                </a:lnTo>
                <a:lnTo>
                  <a:pt x="0" y="4613904"/>
                </a:lnTo>
                <a:lnTo>
                  <a:pt x="0" y="0"/>
                </a:lnTo>
                <a:close/>
              </a:path>
            </a:pathLst>
          </a:custGeom>
          <a:blipFill>
            <a:blip r:embed="rId2"/>
            <a:stretch>
              <a:fillRect l="-51097" t="-17435" b="-101367"/>
            </a:stretch>
          </a:blipFill>
        </p:spPr>
        <p:txBody>
          <a:bodyPr/>
          <a:lstStyle/>
          <a:p>
            <a:endParaRPr lang="en-VN"/>
          </a:p>
        </p:txBody>
      </p:sp>
      <p:sp>
        <p:nvSpPr>
          <p:cNvPr id="3" name="Freeform 3"/>
          <p:cNvSpPr/>
          <p:nvPr/>
        </p:nvSpPr>
        <p:spPr>
          <a:xfrm flipH="1">
            <a:off x="-3957" y="1217532"/>
            <a:ext cx="6681375" cy="4613903"/>
          </a:xfrm>
          <a:custGeom>
            <a:avLst/>
            <a:gdLst/>
            <a:ahLst/>
            <a:cxnLst/>
            <a:rect l="l" t="t" r="r" b="b"/>
            <a:pathLst>
              <a:path w="6681375" h="4613903">
                <a:moveTo>
                  <a:pt x="6681374" y="0"/>
                </a:moveTo>
                <a:lnTo>
                  <a:pt x="0" y="0"/>
                </a:lnTo>
                <a:lnTo>
                  <a:pt x="0" y="4613904"/>
                </a:lnTo>
                <a:lnTo>
                  <a:pt x="6681374" y="4613904"/>
                </a:lnTo>
                <a:lnTo>
                  <a:pt x="6681374" y="0"/>
                </a:lnTo>
                <a:close/>
              </a:path>
            </a:pathLst>
          </a:custGeom>
          <a:blipFill>
            <a:blip r:embed="rId2"/>
            <a:stretch>
              <a:fillRect l="-51097" t="-17435" b="-101367"/>
            </a:stretch>
          </a:blipFill>
        </p:spPr>
        <p:txBody>
          <a:bodyPr/>
          <a:lstStyle/>
          <a:p>
            <a:endParaRPr lang="en-VN"/>
          </a:p>
        </p:txBody>
      </p:sp>
      <p:sp>
        <p:nvSpPr>
          <p:cNvPr id="4" name="Freeform 4"/>
          <p:cNvSpPr/>
          <p:nvPr/>
        </p:nvSpPr>
        <p:spPr>
          <a:xfrm>
            <a:off x="-3957" y="2507712"/>
            <a:ext cx="18288000" cy="8610734"/>
          </a:xfrm>
          <a:custGeom>
            <a:avLst/>
            <a:gdLst/>
            <a:ahLst/>
            <a:cxnLst/>
            <a:rect l="l" t="t" r="r" b="b"/>
            <a:pathLst>
              <a:path w="18288000" h="8610734">
                <a:moveTo>
                  <a:pt x="0" y="0"/>
                </a:moveTo>
                <a:lnTo>
                  <a:pt x="18288000" y="0"/>
                </a:lnTo>
                <a:lnTo>
                  <a:pt x="18288000" y="8610734"/>
                </a:lnTo>
                <a:lnTo>
                  <a:pt x="0" y="8610734"/>
                </a:lnTo>
                <a:lnTo>
                  <a:pt x="0" y="0"/>
                </a:lnTo>
                <a:close/>
              </a:path>
            </a:pathLst>
          </a:custGeom>
          <a:blipFill>
            <a:blip r:embed="rId3">
              <a:alphaModFix amt="35000"/>
              <a:extLst>
                <a:ext uri="{BEBA8EAE-BF5A-486C-A8C5-ECC9F3942E4B}">
                  <a14:imgProps xmlns:a14="http://schemas.microsoft.com/office/drawing/2010/main">
                    <a14:imgLayer r:embed="rId4">
                      <a14:imgEffect>
                        <a14:artisticMarker/>
                      </a14:imgEffect>
                    </a14:imgLayer>
                  </a14:imgProps>
                </a:ext>
              </a:extLst>
            </a:blip>
            <a:stretch>
              <a:fillRect t="-26724" b="-14777"/>
            </a:stretch>
          </a:blipFill>
        </p:spPr>
        <p:txBody>
          <a:bodyPr/>
          <a:lstStyle/>
          <a:p>
            <a:endParaRPr lang="en-VN"/>
          </a:p>
        </p:txBody>
      </p:sp>
      <p:sp>
        <p:nvSpPr>
          <p:cNvPr id="6" name="Freeform 6"/>
          <p:cNvSpPr/>
          <p:nvPr/>
        </p:nvSpPr>
        <p:spPr>
          <a:xfrm>
            <a:off x="217321" y="-240599"/>
            <a:ext cx="2916262" cy="2916262"/>
          </a:xfrm>
          <a:custGeom>
            <a:avLst/>
            <a:gdLst/>
            <a:ahLst/>
            <a:cxnLst/>
            <a:rect l="l" t="t" r="r" b="b"/>
            <a:pathLst>
              <a:path w="2916262" h="2916262">
                <a:moveTo>
                  <a:pt x="0" y="0"/>
                </a:moveTo>
                <a:lnTo>
                  <a:pt x="2916262" y="0"/>
                </a:lnTo>
                <a:lnTo>
                  <a:pt x="2916262" y="2916262"/>
                </a:lnTo>
                <a:lnTo>
                  <a:pt x="0" y="2916262"/>
                </a:lnTo>
                <a:lnTo>
                  <a:pt x="0" y="0"/>
                </a:lnTo>
                <a:close/>
              </a:path>
            </a:pathLst>
          </a:custGeom>
          <a:blipFill>
            <a:blip r:embed="rId5"/>
            <a:stretch>
              <a:fillRect/>
            </a:stretch>
          </a:blipFill>
        </p:spPr>
        <p:txBody>
          <a:bodyPr/>
          <a:lstStyle/>
          <a:p>
            <a:endParaRPr lang="en-VN"/>
          </a:p>
        </p:txBody>
      </p:sp>
      <p:grpSp>
        <p:nvGrpSpPr>
          <p:cNvPr id="7" name="Group 7"/>
          <p:cNvGrpSpPr/>
          <p:nvPr/>
        </p:nvGrpSpPr>
        <p:grpSpPr>
          <a:xfrm>
            <a:off x="4171106" y="82143"/>
            <a:ext cx="9945787" cy="1567627"/>
            <a:chOff x="0" y="-85725"/>
            <a:chExt cx="2619467" cy="412873"/>
          </a:xfrm>
        </p:grpSpPr>
        <p:sp>
          <p:nvSpPr>
            <p:cNvPr id="8" name="Freeform 8"/>
            <p:cNvSpPr/>
            <p:nvPr/>
          </p:nvSpPr>
          <p:spPr>
            <a:xfrm>
              <a:off x="0" y="0"/>
              <a:ext cx="2619467" cy="213308"/>
            </a:xfrm>
            <a:custGeom>
              <a:avLst/>
              <a:gdLst/>
              <a:ahLst/>
              <a:cxnLst/>
              <a:rect l="l" t="t" r="r" b="b"/>
              <a:pathLst>
                <a:path w="2619467" h="327148">
                  <a:moveTo>
                    <a:pt x="39699" y="0"/>
                  </a:moveTo>
                  <a:lnTo>
                    <a:pt x="2579768" y="0"/>
                  </a:lnTo>
                  <a:cubicBezTo>
                    <a:pt x="2601693" y="0"/>
                    <a:pt x="2619467" y="17774"/>
                    <a:pt x="2619467" y="39699"/>
                  </a:cubicBezTo>
                  <a:lnTo>
                    <a:pt x="2619467" y="287449"/>
                  </a:lnTo>
                  <a:cubicBezTo>
                    <a:pt x="2619467" y="309374"/>
                    <a:pt x="2601693" y="327148"/>
                    <a:pt x="2579768" y="327148"/>
                  </a:cubicBezTo>
                  <a:lnTo>
                    <a:pt x="39699" y="327148"/>
                  </a:lnTo>
                  <a:cubicBezTo>
                    <a:pt x="17774" y="327148"/>
                    <a:pt x="0" y="309374"/>
                    <a:pt x="0" y="287449"/>
                  </a:cubicBezTo>
                  <a:lnTo>
                    <a:pt x="0" y="39699"/>
                  </a:lnTo>
                  <a:cubicBezTo>
                    <a:pt x="0" y="17774"/>
                    <a:pt x="17774" y="0"/>
                    <a:pt x="39699" y="0"/>
                  </a:cubicBezTo>
                  <a:close/>
                </a:path>
              </a:pathLst>
            </a:custGeom>
            <a:gradFill rotWithShape="1">
              <a:gsLst>
                <a:gs pos="0">
                  <a:srgbClr val="8C01BF">
                    <a:alpha val="100000"/>
                  </a:srgbClr>
                </a:gs>
                <a:gs pos="50000">
                  <a:srgbClr val="5C09C5">
                    <a:alpha val="100000"/>
                  </a:srgbClr>
                </a:gs>
                <a:gs pos="100000">
                  <a:srgbClr val="4F03E9">
                    <a:alpha val="100000"/>
                  </a:srgbClr>
                </a:gs>
              </a:gsLst>
              <a:lin ang="0"/>
            </a:gradFill>
          </p:spPr>
          <p:txBody>
            <a:bodyPr/>
            <a:lstStyle/>
            <a:p>
              <a:endParaRPr lang="en-VN"/>
            </a:p>
          </p:txBody>
        </p:sp>
        <p:sp>
          <p:nvSpPr>
            <p:cNvPr id="9" name="TextBox 9"/>
            <p:cNvSpPr txBox="1"/>
            <p:nvPr/>
          </p:nvSpPr>
          <p:spPr>
            <a:xfrm>
              <a:off x="0" y="-85725"/>
              <a:ext cx="2619467" cy="412873"/>
            </a:xfrm>
            <a:prstGeom prst="rect">
              <a:avLst/>
            </a:prstGeom>
          </p:spPr>
          <p:txBody>
            <a:bodyPr lIns="50800" tIns="50800" rIns="50800" bIns="50800" rtlCol="0" anchor="ctr"/>
            <a:lstStyle/>
            <a:p>
              <a:pPr algn="ctr">
                <a:lnSpc>
                  <a:spcPts val="6579"/>
                </a:lnSpc>
                <a:spcBef>
                  <a:spcPct val="0"/>
                </a:spcBef>
              </a:pPr>
              <a:r>
                <a:rPr lang="en-US" sz="4699" spc="465" dirty="0">
                  <a:solidFill>
                    <a:srgbClr val="FFFFFF"/>
                  </a:solidFill>
                  <a:latin typeface="Bevan"/>
                  <a:ea typeface="Bevan"/>
                  <a:cs typeface="Bevan"/>
                  <a:sym typeface="Bevan"/>
                </a:rPr>
                <a:t>AI-GREEN EYE</a:t>
              </a:r>
            </a:p>
          </p:txBody>
        </p:sp>
      </p:grpSp>
      <p:sp>
        <p:nvSpPr>
          <p:cNvPr id="26" name="Freeform 25">
            <a:extLst>
              <a:ext uri="{FF2B5EF4-FFF2-40B4-BE49-F238E27FC236}">
                <a16:creationId xmlns:a16="http://schemas.microsoft.com/office/drawing/2014/main" id="{E8D40D53-A40B-7028-A12A-886DBBD52A81}"/>
              </a:ext>
            </a:extLst>
          </p:cNvPr>
          <p:cNvSpPr/>
          <p:nvPr/>
        </p:nvSpPr>
        <p:spPr>
          <a:xfrm>
            <a:off x="3492893" y="1084241"/>
            <a:ext cx="11235196" cy="8118517"/>
          </a:xfrm>
          <a:custGeom>
            <a:avLst/>
            <a:gdLst/>
            <a:ahLst/>
            <a:cxnLst/>
            <a:rect l="l" t="t" r="r" b="b"/>
            <a:pathLst>
              <a:path w="9502490" h="6331034">
                <a:moveTo>
                  <a:pt x="0" y="0"/>
                </a:moveTo>
                <a:lnTo>
                  <a:pt x="9502490" y="0"/>
                </a:lnTo>
                <a:lnTo>
                  <a:pt x="9502490" y="6331034"/>
                </a:lnTo>
                <a:lnTo>
                  <a:pt x="0" y="6331034"/>
                </a:lnTo>
                <a:lnTo>
                  <a:pt x="0" y="0"/>
                </a:lnTo>
                <a:close/>
              </a:path>
            </a:pathLst>
          </a:custGeom>
          <a:blipFill>
            <a:blip r:embed="rId6"/>
            <a:stretch>
              <a:fillRect/>
            </a:stretch>
          </a:blipFill>
        </p:spPr>
        <p:txBody>
          <a:bodyPr/>
          <a:lstStyle/>
          <a:p>
            <a:endParaRPr lang="en-V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719E3-6AD7-E581-D9EA-96D40896A257}"/>
            </a:ext>
          </a:extLst>
        </p:cNvPr>
        <p:cNvGrpSpPr/>
        <p:nvPr/>
      </p:nvGrpSpPr>
      <p:grpSpPr>
        <a:xfrm>
          <a:off x="0" y="0"/>
          <a:ext cx="0" cy="0"/>
          <a:chOff x="0" y="0"/>
          <a:chExt cx="0" cy="0"/>
        </a:xfrm>
      </p:grpSpPr>
      <p:sp>
        <p:nvSpPr>
          <p:cNvPr id="2" name="Freeform 6">
            <a:extLst>
              <a:ext uri="{FF2B5EF4-FFF2-40B4-BE49-F238E27FC236}">
                <a16:creationId xmlns:a16="http://schemas.microsoft.com/office/drawing/2014/main" id="{8C2EE37A-DADC-FFF6-09DD-DD734CB5D7A0}"/>
              </a:ext>
            </a:extLst>
          </p:cNvPr>
          <p:cNvSpPr/>
          <p:nvPr/>
        </p:nvSpPr>
        <p:spPr>
          <a:xfrm>
            <a:off x="217321" y="-240599"/>
            <a:ext cx="2916262" cy="2916262"/>
          </a:xfrm>
          <a:custGeom>
            <a:avLst/>
            <a:gdLst/>
            <a:ahLst/>
            <a:cxnLst/>
            <a:rect l="l" t="t" r="r" b="b"/>
            <a:pathLst>
              <a:path w="2916262" h="2916262">
                <a:moveTo>
                  <a:pt x="0" y="0"/>
                </a:moveTo>
                <a:lnTo>
                  <a:pt x="2916262" y="0"/>
                </a:lnTo>
                <a:lnTo>
                  <a:pt x="2916262" y="2916262"/>
                </a:lnTo>
                <a:lnTo>
                  <a:pt x="0" y="2916262"/>
                </a:lnTo>
                <a:lnTo>
                  <a:pt x="0" y="0"/>
                </a:lnTo>
                <a:close/>
              </a:path>
            </a:pathLst>
          </a:custGeom>
          <a:blipFill>
            <a:blip r:embed="rId2"/>
            <a:stretch>
              <a:fillRect/>
            </a:stretch>
          </a:blipFill>
        </p:spPr>
        <p:txBody>
          <a:bodyPr/>
          <a:lstStyle/>
          <a:p>
            <a:endParaRPr lang="en-VN"/>
          </a:p>
        </p:txBody>
      </p:sp>
      <p:grpSp>
        <p:nvGrpSpPr>
          <p:cNvPr id="7" name="Group 7">
            <a:extLst>
              <a:ext uri="{FF2B5EF4-FFF2-40B4-BE49-F238E27FC236}">
                <a16:creationId xmlns:a16="http://schemas.microsoft.com/office/drawing/2014/main" id="{679036FF-10D8-3EBB-ADB1-B64BBB0BA8E2}"/>
              </a:ext>
            </a:extLst>
          </p:cNvPr>
          <p:cNvGrpSpPr/>
          <p:nvPr/>
        </p:nvGrpSpPr>
        <p:grpSpPr>
          <a:xfrm>
            <a:off x="4171106" y="0"/>
            <a:ext cx="9945787" cy="1567627"/>
            <a:chOff x="0" y="-85725"/>
            <a:chExt cx="2619467" cy="412873"/>
          </a:xfrm>
        </p:grpSpPr>
        <p:sp>
          <p:nvSpPr>
            <p:cNvPr id="8" name="Freeform 8">
              <a:extLst>
                <a:ext uri="{FF2B5EF4-FFF2-40B4-BE49-F238E27FC236}">
                  <a16:creationId xmlns:a16="http://schemas.microsoft.com/office/drawing/2014/main" id="{6817D578-2D7B-DEC0-5053-D873B24C630A}"/>
                </a:ext>
              </a:extLst>
            </p:cNvPr>
            <p:cNvSpPr/>
            <p:nvPr/>
          </p:nvSpPr>
          <p:spPr>
            <a:xfrm>
              <a:off x="0" y="-25473"/>
              <a:ext cx="2619467" cy="250425"/>
            </a:xfrm>
            <a:custGeom>
              <a:avLst/>
              <a:gdLst/>
              <a:ahLst/>
              <a:cxnLst/>
              <a:rect l="l" t="t" r="r" b="b"/>
              <a:pathLst>
                <a:path w="2619467" h="327148">
                  <a:moveTo>
                    <a:pt x="39699" y="0"/>
                  </a:moveTo>
                  <a:lnTo>
                    <a:pt x="2579768" y="0"/>
                  </a:lnTo>
                  <a:cubicBezTo>
                    <a:pt x="2601693" y="0"/>
                    <a:pt x="2619467" y="17774"/>
                    <a:pt x="2619467" y="39699"/>
                  </a:cubicBezTo>
                  <a:lnTo>
                    <a:pt x="2619467" y="287449"/>
                  </a:lnTo>
                  <a:cubicBezTo>
                    <a:pt x="2619467" y="309374"/>
                    <a:pt x="2601693" y="327148"/>
                    <a:pt x="2579768" y="327148"/>
                  </a:cubicBezTo>
                  <a:lnTo>
                    <a:pt x="39699" y="327148"/>
                  </a:lnTo>
                  <a:cubicBezTo>
                    <a:pt x="17774" y="327148"/>
                    <a:pt x="0" y="309374"/>
                    <a:pt x="0" y="287449"/>
                  </a:cubicBezTo>
                  <a:lnTo>
                    <a:pt x="0" y="39699"/>
                  </a:lnTo>
                  <a:cubicBezTo>
                    <a:pt x="0" y="17774"/>
                    <a:pt x="17774" y="0"/>
                    <a:pt x="39699" y="0"/>
                  </a:cubicBezTo>
                  <a:close/>
                </a:path>
              </a:pathLst>
            </a:custGeom>
            <a:solidFill>
              <a:srgbClr val="0070C0"/>
            </a:solidFill>
          </p:spPr>
          <p:txBody>
            <a:bodyPr/>
            <a:lstStyle/>
            <a:p>
              <a:endParaRPr lang="en-VN" dirty="0"/>
            </a:p>
          </p:txBody>
        </p:sp>
        <p:sp>
          <p:nvSpPr>
            <p:cNvPr id="9" name="TextBox 9">
              <a:extLst>
                <a:ext uri="{FF2B5EF4-FFF2-40B4-BE49-F238E27FC236}">
                  <a16:creationId xmlns:a16="http://schemas.microsoft.com/office/drawing/2014/main" id="{47C6B34A-87A4-90BD-09E0-1D81C4F82F35}"/>
                </a:ext>
              </a:extLst>
            </p:cNvPr>
            <p:cNvSpPr txBox="1"/>
            <p:nvPr/>
          </p:nvSpPr>
          <p:spPr>
            <a:xfrm>
              <a:off x="0" y="-85725"/>
              <a:ext cx="2619467" cy="412873"/>
            </a:xfrm>
            <a:prstGeom prst="rect">
              <a:avLst/>
            </a:prstGeom>
          </p:spPr>
          <p:txBody>
            <a:bodyPr lIns="50800" tIns="50800" rIns="50800" bIns="50800" rtlCol="0" anchor="ctr"/>
            <a:lstStyle/>
            <a:p>
              <a:pPr algn="ctr">
                <a:lnSpc>
                  <a:spcPts val="6579"/>
                </a:lnSpc>
                <a:spcBef>
                  <a:spcPct val="0"/>
                </a:spcBef>
              </a:pPr>
              <a:r>
                <a:rPr lang="en-US" sz="4699" spc="465" dirty="0">
                  <a:solidFill>
                    <a:srgbClr val="FFFFFF"/>
                  </a:solidFill>
                  <a:latin typeface="Bevan"/>
                  <a:ea typeface="Bevan"/>
                  <a:cs typeface="Bevan"/>
                  <a:sym typeface="Bevan"/>
                </a:rPr>
                <a:t>TÍNH CẤP THIẾT</a:t>
              </a:r>
            </a:p>
          </p:txBody>
        </p:sp>
      </p:grpSp>
      <p:grpSp>
        <p:nvGrpSpPr>
          <p:cNvPr id="25" name="Group 24">
            <a:extLst>
              <a:ext uri="{FF2B5EF4-FFF2-40B4-BE49-F238E27FC236}">
                <a16:creationId xmlns:a16="http://schemas.microsoft.com/office/drawing/2014/main" id="{C3245211-5B63-0937-D2A0-61C2742E3109}"/>
              </a:ext>
            </a:extLst>
          </p:cNvPr>
          <p:cNvGrpSpPr/>
          <p:nvPr/>
        </p:nvGrpSpPr>
        <p:grpSpPr>
          <a:xfrm>
            <a:off x="3996622" y="1442350"/>
            <a:ext cx="10515601" cy="538895"/>
            <a:chOff x="4800599" y="1328005"/>
            <a:chExt cx="8686800" cy="538895"/>
          </a:xfrm>
        </p:grpSpPr>
        <p:sp>
          <p:nvSpPr>
            <p:cNvPr id="3" name="Text 8">
              <a:extLst>
                <a:ext uri="{FF2B5EF4-FFF2-40B4-BE49-F238E27FC236}">
                  <a16:creationId xmlns:a16="http://schemas.microsoft.com/office/drawing/2014/main" id="{932FE727-E79C-FA09-A7A9-D0525B40DA42}"/>
                </a:ext>
              </a:extLst>
            </p:cNvPr>
            <p:cNvSpPr/>
            <p:nvPr/>
          </p:nvSpPr>
          <p:spPr>
            <a:xfrm>
              <a:off x="4800599" y="1328005"/>
              <a:ext cx="8686800" cy="411480"/>
            </a:xfrm>
            <a:prstGeom prst="rect">
              <a:avLst/>
            </a:prstGeom>
            <a:noFill/>
            <a:ln/>
          </p:spPr>
          <p:txBody>
            <a:bodyPr wrap="square" lIns="635" tIns="635" rIns="635" bIns="635" rtlCol="0" anchor="ctr">
              <a:noAutofit/>
            </a:bodyPr>
            <a:lstStyle/>
            <a:p>
              <a:pPr marL="0" indent="0" algn="l">
                <a:buNone/>
              </a:pPr>
              <a:r>
                <a:rPr lang="en-US" sz="4000" dirty="0">
                  <a:solidFill>
                    <a:srgbClr val="0E7490"/>
                  </a:solidFill>
                  <a:latin typeface="Times New Roman" pitchFamily="34" charset="0"/>
                  <a:ea typeface="Times New Roman" pitchFamily="34" charset="-122"/>
                  <a:cs typeface="Times New Roman" pitchFamily="34" charset="-120"/>
                </a:rPr>
                <a:t>Rào cản kép của người khiếm thị khi phân loại rác</a:t>
              </a:r>
              <a:endParaRPr lang="en-US" sz="4000" dirty="0"/>
            </a:p>
          </p:txBody>
        </p:sp>
        <p:sp>
          <p:nvSpPr>
            <p:cNvPr id="4" name="Shape 9">
              <a:extLst>
                <a:ext uri="{FF2B5EF4-FFF2-40B4-BE49-F238E27FC236}">
                  <a16:creationId xmlns:a16="http://schemas.microsoft.com/office/drawing/2014/main" id="{E9E2A595-2FED-E615-0A7C-82F15FF06834}"/>
                </a:ext>
              </a:extLst>
            </p:cNvPr>
            <p:cNvSpPr/>
            <p:nvPr/>
          </p:nvSpPr>
          <p:spPr>
            <a:xfrm>
              <a:off x="7086599" y="1866900"/>
              <a:ext cx="4114800" cy="0"/>
            </a:xfrm>
            <a:prstGeom prst="line">
              <a:avLst/>
            </a:prstGeom>
            <a:noFill/>
            <a:ln w="38100">
              <a:solidFill>
                <a:srgbClr val="28AFC2"/>
              </a:solidFill>
              <a:prstDash val="solid"/>
            </a:ln>
          </p:spPr>
          <p:txBody>
            <a:bodyPr/>
            <a:lstStyle/>
            <a:p>
              <a:endParaRPr lang="en-VN" sz="3200"/>
            </a:p>
          </p:txBody>
        </p:sp>
      </p:grpSp>
      <p:grpSp>
        <p:nvGrpSpPr>
          <p:cNvPr id="15" name="Group 14">
            <a:extLst>
              <a:ext uri="{FF2B5EF4-FFF2-40B4-BE49-F238E27FC236}">
                <a16:creationId xmlns:a16="http://schemas.microsoft.com/office/drawing/2014/main" id="{35448181-5A99-43A2-DAD4-C89B745EC4EA}"/>
              </a:ext>
            </a:extLst>
          </p:cNvPr>
          <p:cNvGrpSpPr/>
          <p:nvPr/>
        </p:nvGrpSpPr>
        <p:grpSpPr>
          <a:xfrm>
            <a:off x="273200" y="2237255"/>
            <a:ext cx="7727800" cy="3287245"/>
            <a:chOff x="273200" y="2084832"/>
            <a:chExt cx="7042000" cy="2220468"/>
          </a:xfrm>
        </p:grpSpPr>
        <p:sp>
          <p:nvSpPr>
            <p:cNvPr id="5" name="Shape 10">
              <a:extLst>
                <a:ext uri="{FF2B5EF4-FFF2-40B4-BE49-F238E27FC236}">
                  <a16:creationId xmlns:a16="http://schemas.microsoft.com/office/drawing/2014/main" id="{98D4C7DC-248F-C109-04D8-54D8FD041CE8}"/>
                </a:ext>
              </a:extLst>
            </p:cNvPr>
            <p:cNvSpPr/>
            <p:nvPr/>
          </p:nvSpPr>
          <p:spPr>
            <a:xfrm>
              <a:off x="273200" y="2084832"/>
              <a:ext cx="7042000" cy="2220468"/>
            </a:xfrm>
            <a:prstGeom prst="roundRect">
              <a:avLst>
                <a:gd name="adj" fmla="val 8485"/>
              </a:avLst>
            </a:prstGeom>
            <a:solidFill>
              <a:srgbClr val="FFFFFF"/>
            </a:solidFill>
            <a:ln w="57150">
              <a:solidFill>
                <a:srgbClr val="28AFC2"/>
              </a:solidFill>
              <a:prstDash val="solid"/>
            </a:ln>
          </p:spPr>
          <p:txBody>
            <a:bodyPr/>
            <a:lstStyle/>
            <a:p>
              <a:endParaRPr lang="en-VN"/>
            </a:p>
          </p:txBody>
        </p:sp>
        <p:sp>
          <p:nvSpPr>
            <p:cNvPr id="11" name="Text 13">
              <a:extLst>
                <a:ext uri="{FF2B5EF4-FFF2-40B4-BE49-F238E27FC236}">
                  <a16:creationId xmlns:a16="http://schemas.microsoft.com/office/drawing/2014/main" id="{942284B4-3CFE-FD94-4B2A-4EDB9F0043DC}"/>
                </a:ext>
              </a:extLst>
            </p:cNvPr>
            <p:cNvSpPr/>
            <p:nvPr/>
          </p:nvSpPr>
          <p:spPr>
            <a:xfrm>
              <a:off x="1673352" y="2199668"/>
              <a:ext cx="4114800" cy="502920"/>
            </a:xfrm>
            <a:prstGeom prst="rect">
              <a:avLst/>
            </a:prstGeom>
            <a:noFill/>
            <a:ln/>
          </p:spPr>
          <p:txBody>
            <a:bodyPr wrap="square" lIns="635" tIns="635" rIns="635" bIns="635" rtlCol="0" anchor="ctr">
              <a:normAutofit/>
            </a:bodyPr>
            <a:lstStyle/>
            <a:p>
              <a:pPr marL="0" indent="0" algn="l">
                <a:buNone/>
              </a:pPr>
              <a:r>
                <a:rPr lang="en-US" sz="3600" b="1" dirty="0">
                  <a:solidFill>
                    <a:srgbClr val="06344A"/>
                  </a:solidFill>
                  <a:latin typeface="Times New Roman" pitchFamily="34" charset="0"/>
                  <a:ea typeface="Times New Roman" pitchFamily="34" charset="-122"/>
                  <a:cs typeface="Times New Roman" pitchFamily="34" charset="-120"/>
                </a:rPr>
                <a:t>THIẾU CÔNG CỤ</a:t>
              </a:r>
              <a:endParaRPr lang="en-US" sz="3600" dirty="0"/>
            </a:p>
          </p:txBody>
        </p:sp>
        <p:sp>
          <p:nvSpPr>
            <p:cNvPr id="12" name="Text 14">
              <a:extLst>
                <a:ext uri="{FF2B5EF4-FFF2-40B4-BE49-F238E27FC236}">
                  <a16:creationId xmlns:a16="http://schemas.microsoft.com/office/drawing/2014/main" id="{7DF12B4F-CEB1-3D64-7BD0-F4EEA963B142}"/>
                </a:ext>
              </a:extLst>
            </p:cNvPr>
            <p:cNvSpPr/>
            <p:nvPr/>
          </p:nvSpPr>
          <p:spPr>
            <a:xfrm>
              <a:off x="1673352" y="2587752"/>
              <a:ext cx="5641848" cy="1717548"/>
            </a:xfrm>
            <a:prstGeom prst="rect">
              <a:avLst/>
            </a:prstGeom>
            <a:noFill/>
            <a:ln/>
          </p:spPr>
          <p:txBody>
            <a:bodyPr wrap="square" lIns="635" tIns="635" rIns="635" bIns="635" rtlCol="0" anchor="ctr">
              <a:noAutofit/>
            </a:bodyPr>
            <a:lstStyle/>
            <a:p>
              <a:pPr marL="0" indent="0" algn="l">
                <a:buNone/>
              </a:pPr>
              <a:r>
                <a:rPr lang="en-US" sz="3600" dirty="0">
                  <a:solidFill>
                    <a:srgbClr val="4B6F7C"/>
                  </a:solidFill>
                  <a:latin typeface="Times New Roman" pitchFamily="34" charset="0"/>
                  <a:ea typeface="Times New Roman" pitchFamily="34" charset="-122"/>
                  <a:cs typeface="Times New Roman" pitchFamily="34" charset="-120"/>
                </a:rPr>
                <a:t>Có ý </a:t>
              </a:r>
              <a:r>
                <a:rPr lang="en-US" sz="3600" dirty="0" err="1">
                  <a:solidFill>
                    <a:srgbClr val="4B6F7C"/>
                  </a:solidFill>
                  <a:latin typeface="Times New Roman" pitchFamily="34" charset="0"/>
                  <a:ea typeface="Times New Roman" pitchFamily="34" charset="-122"/>
                  <a:cs typeface="Times New Roman" pitchFamily="34" charset="-120"/>
                </a:rPr>
                <a:t>thức</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phân</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loại</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rác</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thải</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nhưng</a:t>
              </a:r>
              <a:r>
                <a:rPr lang="en-US" sz="3600" dirty="0">
                  <a:solidFill>
                    <a:srgbClr val="4B6F7C"/>
                  </a:solidFill>
                  <a:latin typeface="Times New Roman" pitchFamily="34" charset="0"/>
                  <a:ea typeface="Times New Roman" pitchFamily="34" charset="-122"/>
                  <a:cs typeface="Times New Roman" pitchFamily="34" charset="-120"/>
                </a:rPr>
                <a:t> không nhìn thấy loại rác đang cầm.</a:t>
              </a:r>
              <a:endParaRPr lang="en-US" sz="3600" dirty="0"/>
            </a:p>
          </p:txBody>
        </p:sp>
        <p:sp>
          <p:nvSpPr>
            <p:cNvPr id="14" name="Shape 11">
              <a:extLst>
                <a:ext uri="{FF2B5EF4-FFF2-40B4-BE49-F238E27FC236}">
                  <a16:creationId xmlns:a16="http://schemas.microsoft.com/office/drawing/2014/main" id="{4F725774-3674-03DF-B06A-2AF5E80437AA}"/>
                </a:ext>
              </a:extLst>
            </p:cNvPr>
            <p:cNvSpPr/>
            <p:nvPr/>
          </p:nvSpPr>
          <p:spPr>
            <a:xfrm>
              <a:off x="493216" y="2744006"/>
              <a:ext cx="919782" cy="686294"/>
            </a:xfrm>
            <a:prstGeom prst="ellipse">
              <a:avLst/>
            </a:prstGeom>
            <a:solidFill>
              <a:srgbClr val="28AFC2"/>
            </a:solidFill>
            <a:ln w="12700">
              <a:solidFill>
                <a:srgbClr val="28AFC2"/>
              </a:solidFill>
              <a:prstDash val="solid"/>
            </a:ln>
          </p:spPr>
          <p:txBody>
            <a:bodyPr anchor="ctr"/>
            <a:lstStyle/>
            <a:p>
              <a:pPr algn="ctr"/>
              <a:r>
                <a:rPr lang="en-VN" sz="3200" dirty="0">
                  <a:solidFill>
                    <a:schemeClr val="bg1"/>
                  </a:solidFill>
                  <a:latin typeface="Times New Roman"/>
                </a:rPr>
                <a:t>01</a:t>
              </a:r>
            </a:p>
          </p:txBody>
        </p:sp>
      </p:grpSp>
      <p:grpSp>
        <p:nvGrpSpPr>
          <p:cNvPr id="16" name="Group 15">
            <a:extLst>
              <a:ext uri="{FF2B5EF4-FFF2-40B4-BE49-F238E27FC236}">
                <a16:creationId xmlns:a16="http://schemas.microsoft.com/office/drawing/2014/main" id="{7F53E15F-6939-5858-4E03-79958FCC573E}"/>
              </a:ext>
            </a:extLst>
          </p:cNvPr>
          <p:cNvGrpSpPr/>
          <p:nvPr/>
        </p:nvGrpSpPr>
        <p:grpSpPr>
          <a:xfrm>
            <a:off x="307206" y="6199656"/>
            <a:ext cx="7727800" cy="2542708"/>
            <a:chOff x="273200" y="2084832"/>
            <a:chExt cx="7042000" cy="2220468"/>
          </a:xfrm>
        </p:grpSpPr>
        <p:sp>
          <p:nvSpPr>
            <p:cNvPr id="17" name="Shape 10">
              <a:extLst>
                <a:ext uri="{FF2B5EF4-FFF2-40B4-BE49-F238E27FC236}">
                  <a16:creationId xmlns:a16="http://schemas.microsoft.com/office/drawing/2014/main" id="{F818D323-BAEA-2B66-E03A-33D4B037B057}"/>
                </a:ext>
              </a:extLst>
            </p:cNvPr>
            <p:cNvSpPr/>
            <p:nvPr/>
          </p:nvSpPr>
          <p:spPr>
            <a:xfrm>
              <a:off x="273200" y="2084832"/>
              <a:ext cx="7042000" cy="2220468"/>
            </a:xfrm>
            <a:prstGeom prst="roundRect">
              <a:avLst>
                <a:gd name="adj" fmla="val 8485"/>
              </a:avLst>
            </a:prstGeom>
            <a:solidFill>
              <a:srgbClr val="FFFFFF"/>
            </a:solidFill>
            <a:ln w="57150">
              <a:solidFill>
                <a:srgbClr val="28AFC2"/>
              </a:solidFill>
              <a:prstDash val="solid"/>
            </a:ln>
          </p:spPr>
          <p:txBody>
            <a:bodyPr/>
            <a:lstStyle/>
            <a:p>
              <a:endParaRPr lang="en-VN"/>
            </a:p>
          </p:txBody>
        </p:sp>
        <p:sp>
          <p:nvSpPr>
            <p:cNvPr id="18" name="Text 13">
              <a:extLst>
                <a:ext uri="{FF2B5EF4-FFF2-40B4-BE49-F238E27FC236}">
                  <a16:creationId xmlns:a16="http://schemas.microsoft.com/office/drawing/2014/main" id="{39D1DEFA-7624-0AD0-955F-DA408990395A}"/>
                </a:ext>
              </a:extLst>
            </p:cNvPr>
            <p:cNvSpPr/>
            <p:nvPr/>
          </p:nvSpPr>
          <p:spPr>
            <a:xfrm>
              <a:off x="1673352" y="2199668"/>
              <a:ext cx="4114800" cy="502920"/>
            </a:xfrm>
            <a:prstGeom prst="rect">
              <a:avLst/>
            </a:prstGeom>
            <a:noFill/>
            <a:ln/>
          </p:spPr>
          <p:txBody>
            <a:bodyPr wrap="square" lIns="635" tIns="635" rIns="635" bIns="635" rtlCol="0" anchor="ctr">
              <a:normAutofit fontScale="92500"/>
            </a:bodyPr>
            <a:lstStyle/>
            <a:p>
              <a:r>
                <a:rPr lang="en-US" sz="3600" b="1" dirty="0">
                  <a:solidFill>
                    <a:srgbClr val="06344A"/>
                  </a:solidFill>
                  <a:latin typeface="Times New Roman" pitchFamily="34" charset="0"/>
                  <a:ea typeface="Times New Roman" pitchFamily="34" charset="-122"/>
                  <a:cs typeface="Times New Roman" pitchFamily="34" charset="-120"/>
                </a:rPr>
                <a:t>ÁP LỰC TỪ QUY ĐỊNH</a:t>
              </a:r>
              <a:endParaRPr lang="en-US" sz="3600" dirty="0"/>
            </a:p>
          </p:txBody>
        </p:sp>
        <p:sp>
          <p:nvSpPr>
            <p:cNvPr id="19" name="Text 14">
              <a:extLst>
                <a:ext uri="{FF2B5EF4-FFF2-40B4-BE49-F238E27FC236}">
                  <a16:creationId xmlns:a16="http://schemas.microsoft.com/office/drawing/2014/main" id="{F0298F8D-9AD8-38BC-C013-94FA38DFF068}"/>
                </a:ext>
              </a:extLst>
            </p:cNvPr>
            <p:cNvSpPr/>
            <p:nvPr/>
          </p:nvSpPr>
          <p:spPr>
            <a:xfrm>
              <a:off x="1673352" y="2587752"/>
              <a:ext cx="5641848" cy="1059390"/>
            </a:xfrm>
            <a:prstGeom prst="rect">
              <a:avLst/>
            </a:prstGeom>
            <a:noFill/>
            <a:ln/>
          </p:spPr>
          <p:txBody>
            <a:bodyPr wrap="square" lIns="635" tIns="635" rIns="635" bIns="635" rtlCol="0" anchor="ctr">
              <a:noAutofit/>
            </a:bodyPr>
            <a:lstStyle/>
            <a:p>
              <a:r>
                <a:rPr lang="en-US" sz="3600" dirty="0" err="1">
                  <a:solidFill>
                    <a:srgbClr val="4B6F7C"/>
                  </a:solidFill>
                  <a:latin typeface="Times New Roman" pitchFamily="34" charset="0"/>
                  <a:ea typeface="Times New Roman" pitchFamily="34" charset="-122"/>
                  <a:cs typeface="Times New Roman" pitchFamily="34" charset="-120"/>
                </a:rPr>
                <a:t>Phân</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loại</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rác</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tại</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nguồn</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ngày</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càng</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được</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siết</a:t>
              </a:r>
              <a:r>
                <a:rPr lang="en-US" sz="3600" dirty="0">
                  <a:solidFill>
                    <a:srgbClr val="4B6F7C"/>
                  </a:solidFill>
                  <a:latin typeface="Times New Roman" pitchFamily="34" charset="0"/>
                  <a:ea typeface="Times New Roman" pitchFamily="34" charset="-122"/>
                  <a:cs typeface="Times New Roman" pitchFamily="34" charset="-120"/>
                </a:rPr>
                <a:t> </a:t>
              </a:r>
              <a:r>
                <a:rPr lang="en-US" sz="3600" dirty="0" err="1">
                  <a:solidFill>
                    <a:srgbClr val="4B6F7C"/>
                  </a:solidFill>
                  <a:latin typeface="Times New Roman" pitchFamily="34" charset="0"/>
                  <a:ea typeface="Times New Roman" pitchFamily="34" charset="-122"/>
                  <a:cs typeface="Times New Roman" pitchFamily="34" charset="-120"/>
                </a:rPr>
                <a:t>chặt</a:t>
              </a:r>
              <a:r>
                <a:rPr lang="en-US" sz="3600" dirty="0">
                  <a:solidFill>
                    <a:srgbClr val="4B6F7C"/>
                  </a:solidFill>
                  <a:latin typeface="Times New Roman" pitchFamily="34" charset="0"/>
                  <a:ea typeface="Times New Roman" pitchFamily="34" charset="-122"/>
                  <a:cs typeface="Times New Roman" pitchFamily="34" charset="-120"/>
                </a:rPr>
                <a:t>.</a:t>
              </a:r>
              <a:endParaRPr lang="en-US" sz="3600" dirty="0"/>
            </a:p>
          </p:txBody>
        </p:sp>
        <p:sp>
          <p:nvSpPr>
            <p:cNvPr id="20" name="Shape 11">
              <a:extLst>
                <a:ext uri="{FF2B5EF4-FFF2-40B4-BE49-F238E27FC236}">
                  <a16:creationId xmlns:a16="http://schemas.microsoft.com/office/drawing/2014/main" id="{A5231425-E384-53BE-E16C-38F8FB224486}"/>
                </a:ext>
              </a:extLst>
            </p:cNvPr>
            <p:cNvSpPr/>
            <p:nvPr/>
          </p:nvSpPr>
          <p:spPr>
            <a:xfrm>
              <a:off x="493216" y="2249725"/>
              <a:ext cx="919782" cy="842548"/>
            </a:xfrm>
            <a:prstGeom prst="ellipse">
              <a:avLst/>
            </a:prstGeom>
            <a:solidFill>
              <a:srgbClr val="28AFC2"/>
            </a:solidFill>
            <a:ln w="12700">
              <a:solidFill>
                <a:srgbClr val="28AFC2"/>
              </a:solidFill>
              <a:prstDash val="solid"/>
            </a:ln>
          </p:spPr>
          <p:txBody>
            <a:bodyPr anchor="ctr"/>
            <a:lstStyle/>
            <a:p>
              <a:pPr algn="ctr"/>
              <a:r>
                <a:rPr lang="en-VN" sz="3200" dirty="0">
                  <a:solidFill>
                    <a:schemeClr val="bg1"/>
                  </a:solidFill>
                  <a:latin typeface="Times New Roman"/>
                </a:rPr>
                <a:t>02</a:t>
              </a:r>
            </a:p>
          </p:txBody>
        </p:sp>
      </p:grpSp>
      <p:grpSp>
        <p:nvGrpSpPr>
          <p:cNvPr id="24" name="Group 23">
            <a:extLst>
              <a:ext uri="{FF2B5EF4-FFF2-40B4-BE49-F238E27FC236}">
                <a16:creationId xmlns:a16="http://schemas.microsoft.com/office/drawing/2014/main" id="{ED51F795-376C-8D66-8654-87575479AEE2}"/>
              </a:ext>
            </a:extLst>
          </p:cNvPr>
          <p:cNvGrpSpPr/>
          <p:nvPr/>
        </p:nvGrpSpPr>
        <p:grpSpPr>
          <a:xfrm>
            <a:off x="8610600" y="3087608"/>
            <a:ext cx="10258152" cy="4277868"/>
            <a:chOff x="8997191" y="2917413"/>
            <a:chExt cx="10258152" cy="4277868"/>
          </a:xfrm>
        </p:grpSpPr>
        <p:sp>
          <p:nvSpPr>
            <p:cNvPr id="21" name="Shape 20">
              <a:extLst>
                <a:ext uri="{FF2B5EF4-FFF2-40B4-BE49-F238E27FC236}">
                  <a16:creationId xmlns:a16="http://schemas.microsoft.com/office/drawing/2014/main" id="{E8E5A15C-FA51-3C21-18BE-36CE8D4626EB}"/>
                </a:ext>
              </a:extLst>
            </p:cNvPr>
            <p:cNvSpPr/>
            <p:nvPr/>
          </p:nvSpPr>
          <p:spPr>
            <a:xfrm>
              <a:off x="8997191" y="2917413"/>
              <a:ext cx="8952300" cy="4277868"/>
            </a:xfrm>
            <a:prstGeom prst="roundRect">
              <a:avLst>
                <a:gd name="adj" fmla="val 3288"/>
              </a:avLst>
            </a:prstGeom>
            <a:solidFill>
              <a:srgbClr val="FFFFFF"/>
            </a:solidFill>
            <a:ln w="57150">
              <a:solidFill>
                <a:schemeClr val="accent5">
                  <a:lumMod val="75000"/>
                </a:schemeClr>
              </a:solidFill>
              <a:prstDash val="solid"/>
            </a:ln>
          </p:spPr>
          <p:txBody>
            <a:bodyPr/>
            <a:lstStyle/>
            <a:p>
              <a:endParaRPr lang="en-VN"/>
            </a:p>
          </p:txBody>
        </p:sp>
        <p:sp>
          <p:nvSpPr>
            <p:cNvPr id="22" name="Text 21">
              <a:extLst>
                <a:ext uri="{FF2B5EF4-FFF2-40B4-BE49-F238E27FC236}">
                  <a16:creationId xmlns:a16="http://schemas.microsoft.com/office/drawing/2014/main" id="{C47D9028-B61B-3928-A1A2-BF121D2A7BDB}"/>
                </a:ext>
              </a:extLst>
            </p:cNvPr>
            <p:cNvSpPr/>
            <p:nvPr/>
          </p:nvSpPr>
          <p:spPr>
            <a:xfrm>
              <a:off x="11043705" y="3156142"/>
              <a:ext cx="8211638" cy="768158"/>
            </a:xfrm>
            <a:prstGeom prst="rect">
              <a:avLst/>
            </a:prstGeom>
            <a:noFill/>
            <a:ln>
              <a:noFill/>
            </a:ln>
          </p:spPr>
          <p:txBody>
            <a:bodyPr wrap="square" lIns="635" tIns="635" rIns="635" bIns="635" rtlCol="0" anchor="ctr">
              <a:normAutofit/>
            </a:bodyPr>
            <a:lstStyle/>
            <a:p>
              <a:pPr marL="0" indent="0" algn="l">
                <a:buNone/>
              </a:pPr>
              <a:r>
                <a:rPr lang="en-US" sz="3600" b="1" dirty="0">
                  <a:solidFill>
                    <a:schemeClr val="accent6">
                      <a:lumMod val="50000"/>
                    </a:schemeClr>
                  </a:solidFill>
                  <a:latin typeface="Times New Roman" pitchFamily="34" charset="0"/>
                  <a:ea typeface="Times New Roman" pitchFamily="34" charset="-122"/>
                  <a:cs typeface="Times New Roman" pitchFamily="34" charset="-120"/>
                </a:rPr>
                <a:t>CĂN CỨ PHÁP LÝ</a:t>
              </a:r>
              <a:endParaRPr lang="en-US" sz="3600" dirty="0">
                <a:solidFill>
                  <a:schemeClr val="accent6">
                    <a:lumMod val="50000"/>
                  </a:schemeClr>
                </a:solidFill>
              </a:endParaRPr>
            </a:p>
          </p:txBody>
        </p:sp>
        <p:sp>
          <p:nvSpPr>
            <p:cNvPr id="23" name="Text 22">
              <a:extLst>
                <a:ext uri="{FF2B5EF4-FFF2-40B4-BE49-F238E27FC236}">
                  <a16:creationId xmlns:a16="http://schemas.microsoft.com/office/drawing/2014/main" id="{61F0BAA0-ED84-F350-2793-4A0BC45285C5}"/>
                </a:ext>
              </a:extLst>
            </p:cNvPr>
            <p:cNvSpPr/>
            <p:nvPr/>
          </p:nvSpPr>
          <p:spPr>
            <a:xfrm>
              <a:off x="9401528" y="3924300"/>
              <a:ext cx="8211638" cy="2790712"/>
            </a:xfrm>
            <a:prstGeom prst="rect">
              <a:avLst/>
            </a:prstGeom>
            <a:noFill/>
            <a:ln>
              <a:noFill/>
            </a:ln>
          </p:spPr>
          <p:txBody>
            <a:bodyPr wrap="square" lIns="635" tIns="635" rIns="635" bIns="635" rtlCol="0" anchor="ctr">
              <a:normAutofit/>
            </a:bodyPr>
            <a:lstStyle/>
            <a:p>
              <a:pPr marL="0" indent="0" algn="l">
                <a:buNone/>
              </a:pPr>
              <a:r>
                <a:rPr lang="en-US" sz="4000" dirty="0">
                  <a:solidFill>
                    <a:srgbClr val="06344A"/>
                  </a:solidFill>
                  <a:latin typeface="Times New Roman" pitchFamily="34" charset="0"/>
                  <a:ea typeface="Times New Roman" pitchFamily="34" charset="-122"/>
                  <a:cs typeface="Times New Roman" pitchFamily="34" charset="-120"/>
                </a:rPr>
                <a:t>Nghị định 45/2022/NĐ-CP, </a:t>
              </a:r>
              <a:r>
                <a:rPr lang="en-US" sz="4000" dirty="0" err="1">
                  <a:solidFill>
                    <a:srgbClr val="06344A"/>
                  </a:solidFill>
                  <a:latin typeface="Times New Roman" pitchFamily="34" charset="0"/>
                  <a:ea typeface="Times New Roman" pitchFamily="34" charset="-122"/>
                  <a:cs typeface="Times New Roman" pitchFamily="34" charset="-120"/>
                </a:rPr>
                <a:t>Điều</a:t>
              </a:r>
              <a:r>
                <a:rPr lang="en-US" sz="4000" dirty="0">
                  <a:solidFill>
                    <a:srgbClr val="06344A"/>
                  </a:solidFill>
                  <a:latin typeface="Times New Roman" pitchFamily="34" charset="0"/>
                  <a:ea typeface="Times New Roman" pitchFamily="34" charset="-122"/>
                  <a:cs typeface="Times New Roman" pitchFamily="34" charset="-120"/>
                </a:rPr>
                <a:t> 26:</a:t>
              </a:r>
              <a:endParaRPr lang="en-US" sz="4000" dirty="0"/>
            </a:p>
            <a:p>
              <a:pPr marL="0" indent="0" algn="just">
                <a:buNone/>
              </a:pPr>
              <a:r>
                <a:rPr lang="en-US" sz="4000" dirty="0">
                  <a:solidFill>
                    <a:srgbClr val="06344A"/>
                  </a:solidFill>
                  <a:latin typeface="Times New Roman" pitchFamily="34" charset="0"/>
                  <a:ea typeface="Times New Roman" pitchFamily="34" charset="-122"/>
                  <a:cs typeface="Times New Roman" pitchFamily="34" charset="-120"/>
                </a:rPr>
                <a:t>Phạt 500.000 – 1.000.000 đồng nếu hộ gia đình, cá nhân không phân loại rác theo quy định.</a:t>
              </a:r>
              <a:endParaRPr lang="en-US" sz="4000" dirty="0"/>
            </a:p>
          </p:txBody>
        </p:sp>
      </p:grpSp>
      <p:sp>
        <p:nvSpPr>
          <p:cNvPr id="6" name="Shape 11">
            <a:extLst>
              <a:ext uri="{FF2B5EF4-FFF2-40B4-BE49-F238E27FC236}">
                <a16:creationId xmlns:a16="http://schemas.microsoft.com/office/drawing/2014/main" id="{1A0CE51A-22C3-CFFA-5EF6-E4C8B12D7C57}"/>
              </a:ext>
            </a:extLst>
          </p:cNvPr>
          <p:cNvSpPr/>
          <p:nvPr/>
        </p:nvSpPr>
        <p:spPr>
          <a:xfrm>
            <a:off x="9048454" y="3213091"/>
            <a:ext cx="1009357" cy="1016009"/>
          </a:xfrm>
          <a:prstGeom prst="ellipse">
            <a:avLst/>
          </a:prstGeom>
          <a:solidFill>
            <a:srgbClr val="28AFC2"/>
          </a:solidFill>
          <a:ln w="12700">
            <a:solidFill>
              <a:srgbClr val="28AFC2"/>
            </a:solidFill>
            <a:prstDash val="solid"/>
          </a:ln>
        </p:spPr>
        <p:txBody>
          <a:bodyPr anchor="ctr"/>
          <a:lstStyle/>
          <a:p>
            <a:pPr algn="ctr"/>
            <a:r>
              <a:rPr lang="en-VN" sz="3200" dirty="0">
                <a:solidFill>
                  <a:schemeClr val="bg1"/>
                </a:solidFill>
                <a:latin typeface="Times New Roman"/>
              </a:rPr>
              <a:t>0</a:t>
            </a:r>
            <a:r>
              <a:rPr lang="en-US" sz="3200" dirty="0">
                <a:solidFill>
                  <a:schemeClr val="bg1"/>
                </a:solidFill>
                <a:latin typeface="Times New Roman"/>
              </a:rPr>
              <a:t>3</a:t>
            </a:r>
            <a:endParaRPr lang="en-VN" sz="3200" dirty="0">
              <a:solidFill>
                <a:schemeClr val="bg1"/>
              </a:solidFill>
              <a:latin typeface="Times New Roman"/>
            </a:endParaRPr>
          </a:p>
        </p:txBody>
      </p:sp>
      <p:sp>
        <p:nvSpPr>
          <p:cNvPr id="13" name="Shape 20">
            <a:extLst>
              <a:ext uri="{FF2B5EF4-FFF2-40B4-BE49-F238E27FC236}">
                <a16:creationId xmlns:a16="http://schemas.microsoft.com/office/drawing/2014/main" id="{0419AEEC-B8BB-6563-B5C7-4CD5E1841CA0}"/>
              </a:ext>
            </a:extLst>
          </p:cNvPr>
          <p:cNvSpPr/>
          <p:nvPr/>
        </p:nvSpPr>
        <p:spPr>
          <a:xfrm>
            <a:off x="76200" y="8985364"/>
            <a:ext cx="18211800" cy="1072864"/>
          </a:xfrm>
          <a:prstGeom prst="roundRect">
            <a:avLst>
              <a:gd name="adj" fmla="val 3288"/>
            </a:avLst>
          </a:prstGeom>
          <a:solidFill>
            <a:srgbClr val="FFFFFF"/>
          </a:solidFill>
          <a:ln w="57150">
            <a:solidFill>
              <a:srgbClr val="984708"/>
            </a:solidFill>
            <a:prstDash val="solid"/>
          </a:ln>
        </p:spPr>
        <p:txBody>
          <a:bodyPr/>
          <a:lstStyle/>
          <a:p>
            <a:endParaRPr lang="en-US" b="1" dirty="0"/>
          </a:p>
          <a:p>
            <a:r>
              <a:rPr lang="en-US" sz="3800" b="1" dirty="0">
                <a:solidFill>
                  <a:srgbClr val="FF0000"/>
                </a:solidFill>
                <a:latin typeface="Palatino Linotype" panose="02040502050505030304" pitchFamily="18" charset="0"/>
                <a:cs typeface="Times New Roman" panose="02020603050405020304" pitchFamily="18" charset="0"/>
              </a:rPr>
              <a:t>Khi </a:t>
            </a:r>
            <a:r>
              <a:rPr lang="en-US" sz="3800" b="1" dirty="0" err="1">
                <a:solidFill>
                  <a:srgbClr val="FF0000"/>
                </a:solidFill>
                <a:latin typeface="Palatino Linotype" panose="02040502050505030304" pitchFamily="18" charset="0"/>
                <a:cs typeface="Times New Roman" panose="02020603050405020304" pitchFamily="18" charset="0"/>
              </a:rPr>
              <a:t>luật</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pháp</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đi</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trước</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nhưng</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công</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cụ</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hỗ</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trợ</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cho</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người</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yếu</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thế</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gần</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như</a:t>
            </a:r>
            <a:r>
              <a:rPr lang="en-US" sz="3800" b="1" dirty="0">
                <a:solidFill>
                  <a:srgbClr val="FF0000"/>
                </a:solidFill>
                <a:latin typeface="Palatino Linotype" panose="02040502050505030304" pitchFamily="18" charset="0"/>
                <a:cs typeface="Times New Roman" panose="02020603050405020304" pitchFamily="18" charset="0"/>
              </a:rPr>
              <a:t> </a:t>
            </a:r>
            <a:r>
              <a:rPr lang="en-US" sz="3800" b="1" dirty="0" err="1">
                <a:solidFill>
                  <a:srgbClr val="FF0000"/>
                </a:solidFill>
                <a:latin typeface="Palatino Linotype" panose="02040502050505030304" pitchFamily="18" charset="0"/>
                <a:cs typeface="Times New Roman" panose="02020603050405020304" pitchFamily="18" charset="0"/>
              </a:rPr>
              <a:t>bằng</a:t>
            </a:r>
            <a:r>
              <a:rPr lang="en-US" sz="3800" b="1" dirty="0">
                <a:solidFill>
                  <a:srgbClr val="FF0000"/>
                </a:solidFill>
                <a:latin typeface="Palatino Linotype" panose="02040502050505030304" pitchFamily="18" charset="0"/>
                <a:cs typeface="Times New Roman" panose="02020603050405020304" pitchFamily="18" charset="0"/>
              </a:rPr>
              <a:t> 0.</a:t>
            </a:r>
            <a:r>
              <a:rPr lang="en-US" sz="3800" b="1" dirty="0">
                <a:solidFill>
                  <a:srgbClr val="FFFFFF"/>
                </a:solidFill>
                <a:latin typeface="Palatino Linotype" panose="02040502050505030304" pitchFamily="18" charset="0"/>
              </a:rPr>
              <a:t>.</a:t>
            </a:r>
            <a:endParaRPr lang="en-US" sz="3800" dirty="0">
              <a:latin typeface="Palatino Linotype" panose="02040502050505030304" pitchFamily="18" charset="0"/>
            </a:endParaRPr>
          </a:p>
          <a:p>
            <a:endParaRPr lang="en-VN" dirty="0"/>
          </a:p>
        </p:txBody>
      </p:sp>
    </p:spTree>
    <p:extLst>
      <p:ext uri="{BB962C8B-B14F-4D97-AF65-F5344CB8AC3E}">
        <p14:creationId xmlns:p14="http://schemas.microsoft.com/office/powerpoint/2010/main" val="41228702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0-#ppt_w/2"/>
                                          </p:val>
                                        </p:tav>
                                        <p:tav tm="100000">
                                          <p:val>
                                            <p:strVal val="#ppt_x"/>
                                          </p:val>
                                        </p:tav>
                                      </p:tavLst>
                                    </p:anim>
                                    <p:anim calcmode="lin" valueType="num">
                                      <p:cBhvr additive="base">
                                        <p:cTn id="13"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0-#ppt_w/2"/>
                                          </p:val>
                                        </p:tav>
                                        <p:tav tm="100000">
                                          <p:val>
                                            <p:strVal val="#ppt_x"/>
                                          </p:val>
                                        </p:tav>
                                      </p:tavLst>
                                    </p:anim>
                                    <p:anim calcmode="lin" valueType="num">
                                      <p:cBhvr additive="base">
                                        <p:cTn id="19"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blinds(horizontal)">
                                      <p:cBhvr>
                                        <p:cTn id="24" dur="500"/>
                                        <p:tgtEl>
                                          <p:spTgt spid="24"/>
                                        </p:tgtEl>
                                      </p:cBhvr>
                                    </p:animEffect>
                                  </p:childTnLst>
                                </p:cTn>
                              </p:par>
                              <p:par>
                                <p:cTn id="25" presetID="2" presetClass="entr" presetSubtype="4"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217321" y="-240599"/>
            <a:ext cx="3425426" cy="2916262"/>
          </a:xfrm>
          <a:custGeom>
            <a:avLst/>
            <a:gdLst/>
            <a:ahLst/>
            <a:cxnLst/>
            <a:rect l="l" t="t" r="r" b="b"/>
            <a:pathLst>
              <a:path w="2916262" h="2916262">
                <a:moveTo>
                  <a:pt x="0" y="0"/>
                </a:moveTo>
                <a:lnTo>
                  <a:pt x="2916262" y="0"/>
                </a:lnTo>
                <a:lnTo>
                  <a:pt x="2916262" y="2916262"/>
                </a:lnTo>
                <a:lnTo>
                  <a:pt x="0" y="2916262"/>
                </a:lnTo>
                <a:lnTo>
                  <a:pt x="0" y="0"/>
                </a:lnTo>
                <a:close/>
              </a:path>
            </a:pathLst>
          </a:custGeom>
          <a:blipFill>
            <a:blip r:embed="rId2"/>
            <a:stretch>
              <a:fillRect/>
            </a:stretch>
          </a:blipFill>
        </p:spPr>
        <p:txBody>
          <a:bodyPr/>
          <a:lstStyle/>
          <a:p>
            <a:endParaRPr lang="en-VN"/>
          </a:p>
        </p:txBody>
      </p:sp>
      <p:grpSp>
        <p:nvGrpSpPr>
          <p:cNvPr id="6" name="Group 6"/>
          <p:cNvGrpSpPr/>
          <p:nvPr/>
        </p:nvGrpSpPr>
        <p:grpSpPr>
          <a:xfrm>
            <a:off x="3642747" y="82143"/>
            <a:ext cx="12569512" cy="1567627"/>
            <a:chOff x="0" y="-85725"/>
            <a:chExt cx="3310489" cy="412873"/>
          </a:xfrm>
        </p:grpSpPr>
        <p:sp>
          <p:nvSpPr>
            <p:cNvPr id="7" name="Freeform 7"/>
            <p:cNvSpPr/>
            <p:nvPr/>
          </p:nvSpPr>
          <p:spPr>
            <a:xfrm>
              <a:off x="0" y="-21591"/>
              <a:ext cx="3310489" cy="272908"/>
            </a:xfrm>
            <a:custGeom>
              <a:avLst/>
              <a:gdLst/>
              <a:ahLst/>
              <a:cxnLst/>
              <a:rect l="l" t="t" r="r" b="b"/>
              <a:pathLst>
                <a:path w="3310489" h="327148">
                  <a:moveTo>
                    <a:pt x="31412" y="0"/>
                  </a:moveTo>
                  <a:lnTo>
                    <a:pt x="3279077" y="0"/>
                  </a:lnTo>
                  <a:cubicBezTo>
                    <a:pt x="3296425" y="0"/>
                    <a:pt x="3310489" y="14064"/>
                    <a:pt x="3310489" y="31412"/>
                  </a:cubicBezTo>
                  <a:lnTo>
                    <a:pt x="3310489" y="295736"/>
                  </a:lnTo>
                  <a:cubicBezTo>
                    <a:pt x="3310489" y="304067"/>
                    <a:pt x="3307180" y="312057"/>
                    <a:pt x="3301288" y="317948"/>
                  </a:cubicBezTo>
                  <a:cubicBezTo>
                    <a:pt x="3295398" y="323839"/>
                    <a:pt x="3287408" y="327148"/>
                    <a:pt x="3279077" y="327148"/>
                  </a:cubicBezTo>
                  <a:lnTo>
                    <a:pt x="31412" y="327148"/>
                  </a:lnTo>
                  <a:cubicBezTo>
                    <a:pt x="14064" y="327148"/>
                    <a:pt x="0" y="313084"/>
                    <a:pt x="0" y="295736"/>
                  </a:cubicBezTo>
                  <a:lnTo>
                    <a:pt x="0" y="31412"/>
                  </a:lnTo>
                  <a:cubicBezTo>
                    <a:pt x="0" y="14064"/>
                    <a:pt x="14064" y="0"/>
                    <a:pt x="31412" y="0"/>
                  </a:cubicBezTo>
                  <a:close/>
                </a:path>
              </a:pathLst>
            </a:custGeom>
            <a:solidFill>
              <a:schemeClr val="accent3">
                <a:lumMod val="50000"/>
              </a:schemeClr>
            </a:solidFill>
          </p:spPr>
          <p:txBody>
            <a:bodyPr/>
            <a:lstStyle/>
            <a:p>
              <a:endParaRPr lang="en-VN"/>
            </a:p>
          </p:txBody>
        </p:sp>
        <p:sp>
          <p:nvSpPr>
            <p:cNvPr id="8" name="TextBox 8"/>
            <p:cNvSpPr txBox="1"/>
            <p:nvPr/>
          </p:nvSpPr>
          <p:spPr>
            <a:xfrm>
              <a:off x="0" y="-85725"/>
              <a:ext cx="3310489" cy="412873"/>
            </a:xfrm>
            <a:prstGeom prst="rect">
              <a:avLst/>
            </a:prstGeom>
          </p:spPr>
          <p:txBody>
            <a:bodyPr lIns="50800" tIns="50800" rIns="50800" bIns="50800" rtlCol="0" anchor="ctr"/>
            <a:lstStyle/>
            <a:p>
              <a:pPr algn="ctr">
                <a:lnSpc>
                  <a:spcPts val="6579"/>
                </a:lnSpc>
                <a:spcBef>
                  <a:spcPct val="0"/>
                </a:spcBef>
              </a:pPr>
              <a:r>
                <a:rPr lang="en-US" sz="4699" spc="465" dirty="0" err="1">
                  <a:solidFill>
                    <a:srgbClr val="FFFFFF"/>
                  </a:solidFill>
                  <a:latin typeface="Bevan"/>
                  <a:ea typeface="Bevan"/>
                  <a:cs typeface="Bevan"/>
                  <a:sym typeface="Bevan"/>
                </a:rPr>
                <a:t>Ý</a:t>
              </a:r>
              <a:r>
                <a:rPr lang="en-US" sz="4699" spc="465" dirty="0">
                  <a:solidFill>
                    <a:srgbClr val="FFFFFF"/>
                  </a:solidFill>
                  <a:latin typeface="Bevan"/>
                  <a:ea typeface="Bevan"/>
                  <a:cs typeface="Bevan"/>
                  <a:sym typeface="Bevan"/>
                </a:rPr>
                <a:t> TƯỞNG SÁNG TẠO</a:t>
              </a:r>
            </a:p>
          </p:txBody>
        </p:sp>
      </p:grpSp>
      <p:grpSp>
        <p:nvGrpSpPr>
          <p:cNvPr id="9" name="Group 8">
            <a:extLst>
              <a:ext uri="{FF2B5EF4-FFF2-40B4-BE49-F238E27FC236}">
                <a16:creationId xmlns:a16="http://schemas.microsoft.com/office/drawing/2014/main" id="{32701E4F-E736-B2DA-0E18-E1A9A81D8057}"/>
              </a:ext>
            </a:extLst>
          </p:cNvPr>
          <p:cNvGrpSpPr/>
          <p:nvPr/>
        </p:nvGrpSpPr>
        <p:grpSpPr>
          <a:xfrm>
            <a:off x="8727401" y="2205277"/>
            <a:ext cx="10350632" cy="7772400"/>
            <a:chOff x="8727401" y="2205277"/>
            <a:chExt cx="10350632" cy="7772400"/>
          </a:xfrm>
        </p:grpSpPr>
        <p:grpSp>
          <p:nvGrpSpPr>
            <p:cNvPr id="26" name="Group 25">
              <a:extLst>
                <a:ext uri="{FF2B5EF4-FFF2-40B4-BE49-F238E27FC236}">
                  <a16:creationId xmlns:a16="http://schemas.microsoft.com/office/drawing/2014/main" id="{D71ABF4A-0B76-2243-1E47-F5735961FDCD}"/>
                </a:ext>
              </a:extLst>
            </p:cNvPr>
            <p:cNvGrpSpPr/>
            <p:nvPr/>
          </p:nvGrpSpPr>
          <p:grpSpPr>
            <a:xfrm>
              <a:off x="8727401" y="6223053"/>
              <a:ext cx="2551706" cy="2916262"/>
              <a:chOff x="3118215" y="6782929"/>
              <a:chExt cx="2551706" cy="2916262"/>
            </a:xfrm>
          </p:grpSpPr>
          <p:sp>
            <p:nvSpPr>
              <p:cNvPr id="11" name="Freeform 11"/>
              <p:cNvSpPr/>
              <p:nvPr/>
            </p:nvSpPr>
            <p:spPr>
              <a:xfrm>
                <a:off x="3118215" y="6782929"/>
                <a:ext cx="2551706" cy="2916262"/>
              </a:xfrm>
              <a:custGeom>
                <a:avLst/>
                <a:gdLst/>
                <a:ahLst/>
                <a:cxnLst/>
                <a:rect l="l" t="t" r="r" b="b"/>
                <a:pathLst>
                  <a:path w="3412415" h="4960506">
                    <a:moveTo>
                      <a:pt x="0" y="0"/>
                    </a:moveTo>
                    <a:lnTo>
                      <a:pt x="3412415" y="0"/>
                    </a:lnTo>
                    <a:lnTo>
                      <a:pt x="3412415" y="4960506"/>
                    </a:lnTo>
                    <a:lnTo>
                      <a:pt x="0" y="4960506"/>
                    </a:lnTo>
                    <a:lnTo>
                      <a:pt x="0" y="0"/>
                    </a:lnTo>
                    <a:close/>
                  </a:path>
                </a:pathLst>
              </a:custGeom>
              <a:blipFill>
                <a:blip r:embed="rId3"/>
                <a:stretch>
                  <a:fillRect/>
                </a:stretch>
              </a:blipFill>
            </p:spPr>
            <p:txBody>
              <a:bodyPr/>
              <a:lstStyle/>
              <a:p>
                <a:endParaRPr lang="en-VN"/>
              </a:p>
            </p:txBody>
          </p:sp>
          <p:grpSp>
            <p:nvGrpSpPr>
              <p:cNvPr id="13" name="Group 13"/>
              <p:cNvGrpSpPr/>
              <p:nvPr/>
            </p:nvGrpSpPr>
            <p:grpSpPr>
              <a:xfrm>
                <a:off x="3302118" y="8801743"/>
                <a:ext cx="2153867" cy="460151"/>
                <a:chOff x="0" y="0"/>
                <a:chExt cx="568964" cy="154609"/>
              </a:xfrm>
            </p:grpSpPr>
            <p:sp>
              <p:nvSpPr>
                <p:cNvPr id="14" name="Freeform 14"/>
                <p:cNvSpPr/>
                <p:nvPr/>
              </p:nvSpPr>
              <p:spPr>
                <a:xfrm>
                  <a:off x="0" y="0"/>
                  <a:ext cx="568964" cy="154609"/>
                </a:xfrm>
                <a:custGeom>
                  <a:avLst/>
                  <a:gdLst/>
                  <a:ahLst/>
                  <a:cxnLst/>
                  <a:rect l="l" t="t" r="r" b="b"/>
                  <a:pathLst>
                    <a:path w="568964" h="154609">
                      <a:moveTo>
                        <a:pt x="0" y="0"/>
                      </a:moveTo>
                      <a:lnTo>
                        <a:pt x="568964" y="0"/>
                      </a:lnTo>
                      <a:lnTo>
                        <a:pt x="568964" y="154609"/>
                      </a:lnTo>
                      <a:lnTo>
                        <a:pt x="0" y="154609"/>
                      </a:lnTo>
                      <a:close/>
                    </a:path>
                  </a:pathLst>
                </a:custGeom>
              </p:spPr>
              <p:txBody>
                <a:bodyPr/>
                <a:lstStyle/>
                <a:p>
                  <a:endParaRPr lang="en-VN"/>
                </a:p>
              </p:txBody>
            </p:sp>
            <p:sp>
              <p:nvSpPr>
                <p:cNvPr id="15" name="TextBox 15"/>
                <p:cNvSpPr txBox="1"/>
                <p:nvPr/>
              </p:nvSpPr>
              <p:spPr>
                <a:xfrm>
                  <a:off x="0" y="-38100"/>
                  <a:ext cx="568964" cy="192709"/>
                </a:xfrm>
                <a:prstGeom prst="rect">
                  <a:avLst/>
                </a:prstGeom>
              </p:spPr>
              <p:txBody>
                <a:bodyPr lIns="50800" tIns="50800" rIns="50800" bIns="50800" rtlCol="0" anchor="ctr"/>
                <a:lstStyle/>
                <a:p>
                  <a:pPr algn="ctr">
                    <a:lnSpc>
                      <a:spcPts val="2659"/>
                    </a:lnSpc>
                    <a:spcBef>
                      <a:spcPct val="0"/>
                    </a:spcBef>
                  </a:pPr>
                  <a:r>
                    <a:rPr lang="en-US" sz="1899" dirty="0">
                      <a:solidFill>
                        <a:srgbClr val="FFFFFF"/>
                      </a:solidFill>
                      <a:latin typeface="Bevan"/>
                      <a:ea typeface="Bevan"/>
                      <a:cs typeface="Bevan"/>
                      <a:sym typeface="Bevan"/>
                    </a:rPr>
                    <a:t>RÁC KHÁC</a:t>
                  </a:r>
                </a:p>
              </p:txBody>
            </p:sp>
          </p:grpSp>
        </p:grpSp>
        <p:pic>
          <p:nvPicPr>
            <p:cNvPr id="4" name="Picture 3" descr="Young man explaining waste disposal concept">
              <a:extLst>
                <a:ext uri="{FF2B5EF4-FFF2-40B4-BE49-F238E27FC236}">
                  <a16:creationId xmlns:a16="http://schemas.microsoft.com/office/drawing/2014/main" id="{F4EAB506-989B-45C7-81D7-1B5AB8E10BA5}"/>
                </a:ext>
              </a:extLst>
            </p:cNvPr>
            <p:cNvPicPr>
              <a:picLocks noChangeAspect="1"/>
            </p:cNvPicPr>
            <p:nvPr/>
          </p:nvPicPr>
          <p:blipFill>
            <a:blip r:embed="rId4"/>
            <a:stretch>
              <a:fillRect/>
            </a:stretch>
          </p:blipFill>
          <p:spPr>
            <a:xfrm>
              <a:off x="11305633" y="2205277"/>
              <a:ext cx="7772400" cy="7772400"/>
            </a:xfrm>
            <a:prstGeom prst="rect">
              <a:avLst/>
            </a:prstGeom>
          </p:spPr>
        </p:pic>
        <p:grpSp>
          <p:nvGrpSpPr>
            <p:cNvPr id="25" name="Group 24">
              <a:extLst>
                <a:ext uri="{FF2B5EF4-FFF2-40B4-BE49-F238E27FC236}">
                  <a16:creationId xmlns:a16="http://schemas.microsoft.com/office/drawing/2014/main" id="{53D96CAC-BB54-0CB6-DEAA-DD9D3845C0C5}"/>
                </a:ext>
              </a:extLst>
            </p:cNvPr>
            <p:cNvGrpSpPr/>
            <p:nvPr/>
          </p:nvGrpSpPr>
          <p:grpSpPr>
            <a:xfrm>
              <a:off x="11506200" y="6223053"/>
              <a:ext cx="2523501" cy="2884028"/>
              <a:chOff x="6309661" y="6815163"/>
              <a:chExt cx="2523501" cy="2884028"/>
            </a:xfrm>
          </p:grpSpPr>
          <p:sp>
            <p:nvSpPr>
              <p:cNvPr id="12" name="Freeform 12"/>
              <p:cNvSpPr/>
              <p:nvPr/>
            </p:nvSpPr>
            <p:spPr>
              <a:xfrm>
                <a:off x="6309661" y="6815163"/>
                <a:ext cx="2523501" cy="2884028"/>
              </a:xfrm>
              <a:custGeom>
                <a:avLst/>
                <a:gdLst/>
                <a:ahLst/>
                <a:cxnLst/>
                <a:rect l="l" t="t" r="r" b="b"/>
                <a:pathLst>
                  <a:path w="3374697" h="4905678">
                    <a:moveTo>
                      <a:pt x="0" y="0"/>
                    </a:moveTo>
                    <a:lnTo>
                      <a:pt x="3374698" y="0"/>
                    </a:lnTo>
                    <a:lnTo>
                      <a:pt x="3374698" y="4905677"/>
                    </a:lnTo>
                    <a:lnTo>
                      <a:pt x="0" y="4905677"/>
                    </a:lnTo>
                    <a:lnTo>
                      <a:pt x="0" y="0"/>
                    </a:lnTo>
                    <a:close/>
                  </a:path>
                </a:pathLst>
              </a:custGeom>
              <a:blipFill>
                <a:blip r:embed="rId5"/>
                <a:stretch>
                  <a:fillRect/>
                </a:stretch>
              </a:blipFill>
            </p:spPr>
            <p:txBody>
              <a:bodyPr/>
              <a:lstStyle/>
              <a:p>
                <a:endParaRPr lang="en-VN"/>
              </a:p>
            </p:txBody>
          </p:sp>
          <p:grpSp>
            <p:nvGrpSpPr>
              <p:cNvPr id="16" name="Group 16"/>
              <p:cNvGrpSpPr/>
              <p:nvPr/>
            </p:nvGrpSpPr>
            <p:grpSpPr>
              <a:xfrm>
                <a:off x="6608262" y="7029121"/>
                <a:ext cx="1955656" cy="2364732"/>
                <a:chOff x="0" y="0"/>
                <a:chExt cx="516605" cy="794541"/>
              </a:xfrm>
            </p:grpSpPr>
            <p:sp>
              <p:nvSpPr>
                <p:cNvPr id="17" name="Freeform 17"/>
                <p:cNvSpPr/>
                <p:nvPr/>
              </p:nvSpPr>
              <p:spPr>
                <a:xfrm>
                  <a:off x="0" y="0"/>
                  <a:ext cx="516605" cy="154609"/>
                </a:xfrm>
                <a:custGeom>
                  <a:avLst/>
                  <a:gdLst/>
                  <a:ahLst/>
                  <a:cxnLst/>
                  <a:rect l="l" t="t" r="r" b="b"/>
                  <a:pathLst>
                    <a:path w="516605" h="154609">
                      <a:moveTo>
                        <a:pt x="0" y="0"/>
                      </a:moveTo>
                      <a:lnTo>
                        <a:pt x="516605" y="0"/>
                      </a:lnTo>
                      <a:lnTo>
                        <a:pt x="516605" y="154609"/>
                      </a:lnTo>
                      <a:lnTo>
                        <a:pt x="0" y="154609"/>
                      </a:lnTo>
                      <a:close/>
                    </a:path>
                  </a:pathLst>
                </a:custGeom>
              </p:spPr>
              <p:txBody>
                <a:bodyPr/>
                <a:lstStyle/>
                <a:p>
                  <a:endParaRPr lang="en-VN"/>
                </a:p>
              </p:txBody>
            </p:sp>
            <p:sp>
              <p:nvSpPr>
                <p:cNvPr id="18" name="TextBox 18"/>
                <p:cNvSpPr txBox="1"/>
                <p:nvPr/>
              </p:nvSpPr>
              <p:spPr>
                <a:xfrm>
                  <a:off x="0" y="601832"/>
                  <a:ext cx="516605" cy="192709"/>
                </a:xfrm>
                <a:prstGeom prst="rect">
                  <a:avLst/>
                </a:prstGeom>
              </p:spPr>
              <p:txBody>
                <a:bodyPr lIns="50800" tIns="50800" rIns="50800" bIns="50800" rtlCol="0" anchor="ctr"/>
                <a:lstStyle/>
                <a:p>
                  <a:pPr algn="ctr">
                    <a:lnSpc>
                      <a:spcPts val="2659"/>
                    </a:lnSpc>
                    <a:spcBef>
                      <a:spcPct val="0"/>
                    </a:spcBef>
                  </a:pPr>
                  <a:r>
                    <a:rPr lang="en-US" sz="1899" dirty="0">
                      <a:solidFill>
                        <a:srgbClr val="FFFFFF"/>
                      </a:solidFill>
                      <a:latin typeface="Bevan"/>
                      <a:ea typeface="Bevan"/>
                      <a:cs typeface="Bevan"/>
                      <a:sym typeface="Bevan"/>
                    </a:rPr>
                    <a:t>RÁC </a:t>
                  </a:r>
                </a:p>
                <a:p>
                  <a:pPr algn="ctr">
                    <a:lnSpc>
                      <a:spcPts val="2659"/>
                    </a:lnSpc>
                    <a:spcBef>
                      <a:spcPct val="0"/>
                    </a:spcBef>
                  </a:pPr>
                  <a:r>
                    <a:rPr lang="en-US" sz="1899" dirty="0">
                      <a:solidFill>
                        <a:srgbClr val="FFFFFF"/>
                      </a:solidFill>
                      <a:latin typeface="Bevan"/>
                      <a:ea typeface="Bevan"/>
                      <a:cs typeface="Bevan"/>
                      <a:sym typeface="Bevan"/>
                    </a:rPr>
                    <a:t>VÔ CƠ</a:t>
                  </a:r>
                </a:p>
              </p:txBody>
            </p:sp>
          </p:grpSp>
        </p:grpSp>
        <p:grpSp>
          <p:nvGrpSpPr>
            <p:cNvPr id="24" name="Group 23">
              <a:extLst>
                <a:ext uri="{FF2B5EF4-FFF2-40B4-BE49-F238E27FC236}">
                  <a16:creationId xmlns:a16="http://schemas.microsoft.com/office/drawing/2014/main" id="{2222F804-C561-6D30-B579-2945460160BC}"/>
                </a:ext>
              </a:extLst>
            </p:cNvPr>
            <p:cNvGrpSpPr/>
            <p:nvPr/>
          </p:nvGrpSpPr>
          <p:grpSpPr>
            <a:xfrm>
              <a:off x="15802190" y="6223053"/>
              <a:ext cx="2521973" cy="2884028"/>
              <a:chOff x="9479944" y="6759557"/>
              <a:chExt cx="2521973" cy="2884028"/>
            </a:xfrm>
          </p:grpSpPr>
          <p:sp>
            <p:nvSpPr>
              <p:cNvPr id="10" name="Freeform 10"/>
              <p:cNvSpPr/>
              <p:nvPr/>
            </p:nvSpPr>
            <p:spPr>
              <a:xfrm>
                <a:off x="9479944" y="6759557"/>
                <a:ext cx="2521973" cy="2884028"/>
              </a:xfrm>
              <a:custGeom>
                <a:avLst/>
                <a:gdLst/>
                <a:ahLst/>
                <a:cxnLst/>
                <a:rect l="l" t="t" r="r" b="b"/>
                <a:pathLst>
                  <a:path w="3372653" h="4905678">
                    <a:moveTo>
                      <a:pt x="0" y="0"/>
                    </a:moveTo>
                    <a:lnTo>
                      <a:pt x="3372654" y="0"/>
                    </a:lnTo>
                    <a:lnTo>
                      <a:pt x="3372654" y="4905677"/>
                    </a:lnTo>
                    <a:lnTo>
                      <a:pt x="0" y="4905677"/>
                    </a:lnTo>
                    <a:lnTo>
                      <a:pt x="0" y="0"/>
                    </a:lnTo>
                    <a:close/>
                  </a:path>
                </a:pathLst>
              </a:custGeom>
              <a:blipFill>
                <a:blip r:embed="rId6"/>
                <a:stretch>
                  <a:fillRect/>
                </a:stretch>
              </a:blipFill>
            </p:spPr>
            <p:txBody>
              <a:bodyPr/>
              <a:lstStyle/>
              <a:p>
                <a:endParaRPr lang="en-VN"/>
              </a:p>
            </p:txBody>
          </p:sp>
          <p:grpSp>
            <p:nvGrpSpPr>
              <p:cNvPr id="19" name="Group 19"/>
              <p:cNvGrpSpPr/>
              <p:nvPr/>
            </p:nvGrpSpPr>
            <p:grpSpPr>
              <a:xfrm>
                <a:off x="9819623" y="7013004"/>
                <a:ext cx="1905669" cy="2275893"/>
                <a:chOff x="0" y="0"/>
                <a:chExt cx="503401" cy="764694"/>
              </a:xfrm>
            </p:grpSpPr>
            <p:sp>
              <p:nvSpPr>
                <p:cNvPr id="20" name="Freeform 20"/>
                <p:cNvSpPr/>
                <p:nvPr/>
              </p:nvSpPr>
              <p:spPr>
                <a:xfrm>
                  <a:off x="0" y="0"/>
                  <a:ext cx="503401" cy="143779"/>
                </a:xfrm>
                <a:custGeom>
                  <a:avLst/>
                  <a:gdLst/>
                  <a:ahLst/>
                  <a:cxnLst/>
                  <a:rect l="l" t="t" r="r" b="b"/>
                  <a:pathLst>
                    <a:path w="503401" h="143779">
                      <a:moveTo>
                        <a:pt x="0" y="0"/>
                      </a:moveTo>
                      <a:lnTo>
                        <a:pt x="503401" y="0"/>
                      </a:lnTo>
                      <a:lnTo>
                        <a:pt x="503401" y="143779"/>
                      </a:lnTo>
                      <a:lnTo>
                        <a:pt x="0" y="143779"/>
                      </a:lnTo>
                      <a:close/>
                    </a:path>
                  </a:pathLst>
                </a:custGeom>
              </p:spPr>
              <p:txBody>
                <a:bodyPr/>
                <a:lstStyle/>
                <a:p>
                  <a:endParaRPr lang="en-VN"/>
                </a:p>
              </p:txBody>
            </p:sp>
            <p:sp>
              <p:nvSpPr>
                <p:cNvPr id="21" name="TextBox 21"/>
                <p:cNvSpPr txBox="1"/>
                <p:nvPr/>
              </p:nvSpPr>
              <p:spPr>
                <a:xfrm>
                  <a:off x="0" y="582815"/>
                  <a:ext cx="503401" cy="181879"/>
                </a:xfrm>
                <a:prstGeom prst="rect">
                  <a:avLst/>
                </a:prstGeom>
              </p:spPr>
              <p:txBody>
                <a:bodyPr lIns="50800" tIns="50800" rIns="50800" bIns="50800" rtlCol="0" anchor="ctr"/>
                <a:lstStyle/>
                <a:p>
                  <a:pPr algn="ctr">
                    <a:lnSpc>
                      <a:spcPts val="2659"/>
                    </a:lnSpc>
                    <a:spcBef>
                      <a:spcPct val="0"/>
                    </a:spcBef>
                  </a:pPr>
                  <a:r>
                    <a:rPr lang="en-US" sz="1899" dirty="0">
                      <a:solidFill>
                        <a:srgbClr val="FFFFFF"/>
                      </a:solidFill>
                      <a:latin typeface="Bevan"/>
                      <a:ea typeface="Bevan"/>
                      <a:cs typeface="Bevan"/>
                      <a:sym typeface="Bevan"/>
                    </a:rPr>
                    <a:t>RÁC </a:t>
                  </a:r>
                </a:p>
                <a:p>
                  <a:pPr algn="ctr">
                    <a:lnSpc>
                      <a:spcPts val="2659"/>
                    </a:lnSpc>
                    <a:spcBef>
                      <a:spcPct val="0"/>
                    </a:spcBef>
                  </a:pPr>
                  <a:r>
                    <a:rPr lang="en-US" sz="1899" dirty="0">
                      <a:solidFill>
                        <a:srgbClr val="FFFFFF"/>
                      </a:solidFill>
                      <a:latin typeface="Bevan"/>
                      <a:ea typeface="Bevan"/>
                      <a:cs typeface="Bevan"/>
                      <a:sym typeface="Bevan"/>
                    </a:rPr>
                    <a:t>HỮU CƠ</a:t>
                  </a:r>
                </a:p>
              </p:txBody>
            </p:sp>
          </p:grpSp>
        </p:grpSp>
      </p:grpSp>
      <p:sp>
        <p:nvSpPr>
          <p:cNvPr id="23" name="Freeform 23"/>
          <p:cNvSpPr/>
          <p:nvPr/>
        </p:nvSpPr>
        <p:spPr>
          <a:xfrm>
            <a:off x="319015" y="2250572"/>
            <a:ext cx="8408386" cy="7628797"/>
          </a:xfrm>
          <a:custGeom>
            <a:avLst/>
            <a:gdLst/>
            <a:ahLst/>
            <a:cxnLst/>
            <a:rect l="l" t="t" r="r" b="b"/>
            <a:pathLst>
              <a:path w="6313500" h="4206369">
                <a:moveTo>
                  <a:pt x="0" y="0"/>
                </a:moveTo>
                <a:lnTo>
                  <a:pt x="6313500" y="0"/>
                </a:lnTo>
                <a:lnTo>
                  <a:pt x="6313500" y="4206370"/>
                </a:lnTo>
                <a:lnTo>
                  <a:pt x="0" y="4206370"/>
                </a:lnTo>
                <a:lnTo>
                  <a:pt x="0" y="0"/>
                </a:lnTo>
                <a:close/>
              </a:path>
            </a:pathLst>
          </a:custGeom>
          <a:blipFill>
            <a:blip r:embed="rId7"/>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circle(in)">
                                      <p:cBhvr>
                                        <p:cTn id="7" dur="20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6">
            <a:extLst>
              <a:ext uri="{FF2B5EF4-FFF2-40B4-BE49-F238E27FC236}">
                <a16:creationId xmlns:a16="http://schemas.microsoft.com/office/drawing/2014/main" id="{A02FB297-2897-F3FB-2798-0B075B7F77B2}"/>
              </a:ext>
            </a:extLst>
          </p:cNvPr>
          <p:cNvSpPr/>
          <p:nvPr/>
        </p:nvSpPr>
        <p:spPr>
          <a:xfrm>
            <a:off x="217321" y="-240599"/>
            <a:ext cx="2916262" cy="2916262"/>
          </a:xfrm>
          <a:custGeom>
            <a:avLst/>
            <a:gdLst/>
            <a:ahLst/>
            <a:cxnLst/>
            <a:rect l="l" t="t" r="r" b="b"/>
            <a:pathLst>
              <a:path w="2916262" h="2916262">
                <a:moveTo>
                  <a:pt x="0" y="0"/>
                </a:moveTo>
                <a:lnTo>
                  <a:pt x="2916262" y="0"/>
                </a:lnTo>
                <a:lnTo>
                  <a:pt x="2916262" y="2916262"/>
                </a:lnTo>
                <a:lnTo>
                  <a:pt x="0" y="2916262"/>
                </a:lnTo>
                <a:lnTo>
                  <a:pt x="0" y="0"/>
                </a:lnTo>
                <a:close/>
              </a:path>
            </a:pathLst>
          </a:custGeom>
          <a:blipFill>
            <a:blip r:embed="rId2"/>
            <a:stretch>
              <a:fillRect/>
            </a:stretch>
          </a:blipFill>
        </p:spPr>
        <p:txBody>
          <a:bodyPr/>
          <a:lstStyle/>
          <a:p>
            <a:endParaRPr lang="en-VN"/>
          </a:p>
        </p:txBody>
      </p:sp>
      <p:sp>
        <p:nvSpPr>
          <p:cNvPr id="6" name="Freeform 5">
            <a:extLst>
              <a:ext uri="{FF2B5EF4-FFF2-40B4-BE49-F238E27FC236}">
                <a16:creationId xmlns:a16="http://schemas.microsoft.com/office/drawing/2014/main" id="{58DD8678-1CBD-FB3D-934E-9F9D345A4BDE}"/>
              </a:ext>
            </a:extLst>
          </p:cNvPr>
          <p:cNvSpPr/>
          <p:nvPr/>
        </p:nvSpPr>
        <p:spPr>
          <a:xfrm>
            <a:off x="2881697" y="1772176"/>
            <a:ext cx="11235196" cy="8118517"/>
          </a:xfrm>
          <a:custGeom>
            <a:avLst/>
            <a:gdLst/>
            <a:ahLst/>
            <a:cxnLst/>
            <a:rect l="l" t="t" r="r" b="b"/>
            <a:pathLst>
              <a:path w="9502490" h="6331034">
                <a:moveTo>
                  <a:pt x="0" y="0"/>
                </a:moveTo>
                <a:lnTo>
                  <a:pt x="9502490" y="0"/>
                </a:lnTo>
                <a:lnTo>
                  <a:pt x="9502490" y="6331034"/>
                </a:lnTo>
                <a:lnTo>
                  <a:pt x="0" y="6331034"/>
                </a:lnTo>
                <a:lnTo>
                  <a:pt x="0" y="0"/>
                </a:lnTo>
                <a:close/>
              </a:path>
            </a:pathLst>
          </a:custGeom>
          <a:blipFill>
            <a:blip r:embed="rId3"/>
            <a:stretch>
              <a:fillRect/>
            </a:stretch>
          </a:blipFill>
        </p:spPr>
        <p:txBody>
          <a:bodyPr/>
          <a:lstStyle/>
          <a:p>
            <a:endParaRPr lang="en-VN"/>
          </a:p>
        </p:txBody>
      </p:sp>
      <p:grpSp>
        <p:nvGrpSpPr>
          <p:cNvPr id="7" name="Group 7">
            <a:extLst>
              <a:ext uri="{FF2B5EF4-FFF2-40B4-BE49-F238E27FC236}">
                <a16:creationId xmlns:a16="http://schemas.microsoft.com/office/drawing/2014/main" id="{68372F79-4FB5-31D4-A490-890F1AD0489B}"/>
              </a:ext>
            </a:extLst>
          </p:cNvPr>
          <p:cNvGrpSpPr/>
          <p:nvPr/>
        </p:nvGrpSpPr>
        <p:grpSpPr>
          <a:xfrm>
            <a:off x="4171106" y="0"/>
            <a:ext cx="9945787" cy="1567627"/>
            <a:chOff x="0" y="-85725"/>
            <a:chExt cx="2619467" cy="412873"/>
          </a:xfrm>
        </p:grpSpPr>
        <p:sp>
          <p:nvSpPr>
            <p:cNvPr id="8" name="Freeform 8">
              <a:extLst>
                <a:ext uri="{FF2B5EF4-FFF2-40B4-BE49-F238E27FC236}">
                  <a16:creationId xmlns:a16="http://schemas.microsoft.com/office/drawing/2014/main" id="{3DE51640-0043-385B-2FC6-DAB353AFCCD7}"/>
                </a:ext>
              </a:extLst>
            </p:cNvPr>
            <p:cNvSpPr/>
            <p:nvPr/>
          </p:nvSpPr>
          <p:spPr>
            <a:xfrm>
              <a:off x="0" y="-37117"/>
              <a:ext cx="2619467" cy="250425"/>
            </a:xfrm>
            <a:custGeom>
              <a:avLst/>
              <a:gdLst/>
              <a:ahLst/>
              <a:cxnLst/>
              <a:rect l="l" t="t" r="r" b="b"/>
              <a:pathLst>
                <a:path w="2619467" h="327148">
                  <a:moveTo>
                    <a:pt x="39699" y="0"/>
                  </a:moveTo>
                  <a:lnTo>
                    <a:pt x="2579768" y="0"/>
                  </a:lnTo>
                  <a:cubicBezTo>
                    <a:pt x="2601693" y="0"/>
                    <a:pt x="2619467" y="17774"/>
                    <a:pt x="2619467" y="39699"/>
                  </a:cubicBezTo>
                  <a:lnTo>
                    <a:pt x="2619467" y="287449"/>
                  </a:lnTo>
                  <a:cubicBezTo>
                    <a:pt x="2619467" y="309374"/>
                    <a:pt x="2601693" y="327148"/>
                    <a:pt x="2579768" y="327148"/>
                  </a:cubicBezTo>
                  <a:lnTo>
                    <a:pt x="39699" y="327148"/>
                  </a:lnTo>
                  <a:cubicBezTo>
                    <a:pt x="17774" y="327148"/>
                    <a:pt x="0" y="309374"/>
                    <a:pt x="0" y="287449"/>
                  </a:cubicBezTo>
                  <a:lnTo>
                    <a:pt x="0" y="39699"/>
                  </a:lnTo>
                  <a:cubicBezTo>
                    <a:pt x="0" y="17774"/>
                    <a:pt x="17774" y="0"/>
                    <a:pt x="39699" y="0"/>
                  </a:cubicBezTo>
                  <a:close/>
                </a:path>
              </a:pathLst>
            </a:custGeom>
            <a:gradFill rotWithShape="1">
              <a:gsLst>
                <a:gs pos="0">
                  <a:srgbClr val="8C01BF">
                    <a:alpha val="100000"/>
                  </a:srgbClr>
                </a:gs>
                <a:gs pos="50000">
                  <a:srgbClr val="5C09C5">
                    <a:alpha val="100000"/>
                  </a:srgbClr>
                </a:gs>
                <a:gs pos="100000">
                  <a:srgbClr val="4F03E9">
                    <a:alpha val="100000"/>
                  </a:srgbClr>
                </a:gs>
              </a:gsLst>
              <a:lin ang="0"/>
            </a:gradFill>
          </p:spPr>
          <p:txBody>
            <a:bodyPr/>
            <a:lstStyle/>
            <a:p>
              <a:endParaRPr lang="en-VN"/>
            </a:p>
          </p:txBody>
        </p:sp>
        <p:sp>
          <p:nvSpPr>
            <p:cNvPr id="9" name="TextBox 9">
              <a:extLst>
                <a:ext uri="{FF2B5EF4-FFF2-40B4-BE49-F238E27FC236}">
                  <a16:creationId xmlns:a16="http://schemas.microsoft.com/office/drawing/2014/main" id="{1C087E69-B0D3-E4D7-4EF1-D91AC855DE3A}"/>
                </a:ext>
              </a:extLst>
            </p:cNvPr>
            <p:cNvSpPr txBox="1"/>
            <p:nvPr/>
          </p:nvSpPr>
          <p:spPr>
            <a:xfrm>
              <a:off x="0" y="-85725"/>
              <a:ext cx="2619467" cy="412873"/>
            </a:xfrm>
            <a:prstGeom prst="rect">
              <a:avLst/>
            </a:prstGeom>
          </p:spPr>
          <p:txBody>
            <a:bodyPr lIns="50800" tIns="50800" rIns="50800" bIns="50800" rtlCol="0" anchor="ctr"/>
            <a:lstStyle/>
            <a:p>
              <a:pPr algn="ctr">
                <a:lnSpc>
                  <a:spcPts val="6579"/>
                </a:lnSpc>
                <a:spcBef>
                  <a:spcPct val="0"/>
                </a:spcBef>
              </a:pPr>
              <a:r>
                <a:rPr lang="en-US" sz="4699" spc="465" dirty="0">
                  <a:solidFill>
                    <a:srgbClr val="FFFFFF"/>
                  </a:solidFill>
                  <a:latin typeface="Bevan"/>
                  <a:ea typeface="Bevan"/>
                  <a:cs typeface="Bevan"/>
                  <a:sym typeface="Bevan"/>
                </a:rPr>
                <a:t>CẤU TẠO</a:t>
              </a:r>
            </a:p>
          </p:txBody>
        </p:sp>
      </p:grpSp>
    </p:spTree>
    <p:extLst>
      <p:ext uri="{BB962C8B-B14F-4D97-AF65-F5344CB8AC3E}">
        <p14:creationId xmlns:p14="http://schemas.microsoft.com/office/powerpoint/2010/main" val="11160365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5804-9D10-0F3E-448B-469E72091F17}"/>
            </a:ext>
          </a:extLst>
        </p:cNvPr>
        <p:cNvGrpSpPr/>
        <p:nvPr/>
      </p:nvGrpSpPr>
      <p:grpSpPr>
        <a:xfrm>
          <a:off x="0" y="0"/>
          <a:ext cx="0" cy="0"/>
          <a:chOff x="0" y="0"/>
          <a:chExt cx="0" cy="0"/>
        </a:xfrm>
      </p:grpSpPr>
      <p:sp>
        <p:nvSpPr>
          <p:cNvPr id="2" name="Freeform 6">
            <a:extLst>
              <a:ext uri="{FF2B5EF4-FFF2-40B4-BE49-F238E27FC236}">
                <a16:creationId xmlns:a16="http://schemas.microsoft.com/office/drawing/2014/main" id="{54B9439E-599E-EF73-AB7F-74EADF2195AE}"/>
              </a:ext>
            </a:extLst>
          </p:cNvPr>
          <p:cNvSpPr/>
          <p:nvPr/>
        </p:nvSpPr>
        <p:spPr>
          <a:xfrm>
            <a:off x="217321" y="-240599"/>
            <a:ext cx="2916262" cy="2916262"/>
          </a:xfrm>
          <a:custGeom>
            <a:avLst/>
            <a:gdLst/>
            <a:ahLst/>
            <a:cxnLst/>
            <a:rect l="l" t="t" r="r" b="b"/>
            <a:pathLst>
              <a:path w="2916262" h="2916262">
                <a:moveTo>
                  <a:pt x="0" y="0"/>
                </a:moveTo>
                <a:lnTo>
                  <a:pt x="2916262" y="0"/>
                </a:lnTo>
                <a:lnTo>
                  <a:pt x="2916262" y="2916262"/>
                </a:lnTo>
                <a:lnTo>
                  <a:pt x="0" y="2916262"/>
                </a:lnTo>
                <a:lnTo>
                  <a:pt x="0" y="0"/>
                </a:lnTo>
                <a:close/>
              </a:path>
            </a:pathLst>
          </a:custGeom>
          <a:blipFill>
            <a:blip r:embed="rId2"/>
            <a:stretch>
              <a:fillRect/>
            </a:stretch>
          </a:blipFill>
        </p:spPr>
        <p:txBody>
          <a:bodyPr/>
          <a:lstStyle/>
          <a:p>
            <a:endParaRPr lang="en-VN"/>
          </a:p>
        </p:txBody>
      </p:sp>
      <p:sp>
        <p:nvSpPr>
          <p:cNvPr id="6" name="Freeform 5">
            <a:extLst>
              <a:ext uri="{FF2B5EF4-FFF2-40B4-BE49-F238E27FC236}">
                <a16:creationId xmlns:a16="http://schemas.microsoft.com/office/drawing/2014/main" id="{47BC6E49-3240-119F-0B94-DAE305285738}"/>
              </a:ext>
            </a:extLst>
          </p:cNvPr>
          <p:cNvSpPr/>
          <p:nvPr/>
        </p:nvSpPr>
        <p:spPr>
          <a:xfrm>
            <a:off x="14859000" y="-202499"/>
            <a:ext cx="2916262" cy="2228324"/>
          </a:xfrm>
          <a:custGeom>
            <a:avLst/>
            <a:gdLst/>
            <a:ahLst/>
            <a:cxnLst/>
            <a:rect l="l" t="t" r="r" b="b"/>
            <a:pathLst>
              <a:path w="9502490" h="6331034">
                <a:moveTo>
                  <a:pt x="0" y="0"/>
                </a:moveTo>
                <a:lnTo>
                  <a:pt x="9502490" y="0"/>
                </a:lnTo>
                <a:lnTo>
                  <a:pt x="9502490" y="6331034"/>
                </a:lnTo>
                <a:lnTo>
                  <a:pt x="0" y="6331034"/>
                </a:lnTo>
                <a:lnTo>
                  <a:pt x="0" y="0"/>
                </a:lnTo>
                <a:close/>
              </a:path>
            </a:pathLst>
          </a:custGeom>
          <a:blipFill>
            <a:blip r:embed="rId3"/>
            <a:stretch>
              <a:fillRect/>
            </a:stretch>
          </a:blipFill>
        </p:spPr>
        <p:txBody>
          <a:bodyPr/>
          <a:lstStyle/>
          <a:p>
            <a:endParaRPr lang="en-VN"/>
          </a:p>
        </p:txBody>
      </p:sp>
      <p:grpSp>
        <p:nvGrpSpPr>
          <p:cNvPr id="8" name="Group 16">
            <a:extLst>
              <a:ext uri="{FF2B5EF4-FFF2-40B4-BE49-F238E27FC236}">
                <a16:creationId xmlns:a16="http://schemas.microsoft.com/office/drawing/2014/main" id="{9E9511C3-19B6-4BE1-7082-19284751F7B6}"/>
              </a:ext>
            </a:extLst>
          </p:cNvPr>
          <p:cNvGrpSpPr/>
          <p:nvPr/>
        </p:nvGrpSpPr>
        <p:grpSpPr>
          <a:xfrm>
            <a:off x="-138326" y="2274742"/>
            <a:ext cx="6596997" cy="2868758"/>
            <a:chOff x="0" y="0"/>
            <a:chExt cx="8795996" cy="3825010"/>
          </a:xfrm>
        </p:grpSpPr>
        <p:sp>
          <p:nvSpPr>
            <p:cNvPr id="9" name="Freeform 17">
              <a:extLst>
                <a:ext uri="{FF2B5EF4-FFF2-40B4-BE49-F238E27FC236}">
                  <a16:creationId xmlns:a16="http://schemas.microsoft.com/office/drawing/2014/main" id="{C9A30858-D992-D704-C466-D8BDB355E1E8}"/>
                </a:ext>
              </a:extLst>
            </p:cNvPr>
            <p:cNvSpPr/>
            <p:nvPr/>
          </p:nvSpPr>
          <p:spPr>
            <a:xfrm>
              <a:off x="1597908" y="0"/>
              <a:ext cx="5856758" cy="2864520"/>
            </a:xfrm>
            <a:custGeom>
              <a:avLst/>
              <a:gdLst/>
              <a:ahLst/>
              <a:cxnLst/>
              <a:rect l="l" t="t" r="r" b="b"/>
              <a:pathLst>
                <a:path w="5856758" h="2864520">
                  <a:moveTo>
                    <a:pt x="0" y="0"/>
                  </a:moveTo>
                  <a:lnTo>
                    <a:pt x="5856757" y="0"/>
                  </a:lnTo>
                  <a:lnTo>
                    <a:pt x="5856757" y="2864520"/>
                  </a:lnTo>
                  <a:lnTo>
                    <a:pt x="0" y="2864520"/>
                  </a:lnTo>
                  <a:lnTo>
                    <a:pt x="0" y="0"/>
                  </a:lnTo>
                  <a:close/>
                </a:path>
              </a:pathLst>
            </a:custGeom>
            <a:blipFill>
              <a:blip r:embed="rId4"/>
              <a:stretch>
                <a:fillRect/>
              </a:stretch>
            </a:blipFill>
          </p:spPr>
          <p:txBody>
            <a:bodyPr/>
            <a:lstStyle/>
            <a:p>
              <a:endParaRPr lang="en-VN"/>
            </a:p>
          </p:txBody>
        </p:sp>
        <p:sp>
          <p:nvSpPr>
            <p:cNvPr id="10" name="TextBox 18">
              <a:extLst>
                <a:ext uri="{FF2B5EF4-FFF2-40B4-BE49-F238E27FC236}">
                  <a16:creationId xmlns:a16="http://schemas.microsoft.com/office/drawing/2014/main" id="{51113899-6274-23EF-996E-50E55E5BF4A9}"/>
                </a:ext>
              </a:extLst>
            </p:cNvPr>
            <p:cNvSpPr txBox="1"/>
            <p:nvPr/>
          </p:nvSpPr>
          <p:spPr>
            <a:xfrm>
              <a:off x="0" y="2750220"/>
              <a:ext cx="8795996" cy="1074790"/>
            </a:xfrm>
            <a:prstGeom prst="rect">
              <a:avLst/>
            </a:prstGeom>
          </p:spPr>
          <p:txBody>
            <a:bodyPr lIns="0" tIns="0" rIns="0" bIns="0" rtlCol="0" anchor="t">
              <a:spAutoFit/>
            </a:bodyPr>
            <a:lstStyle/>
            <a:p>
              <a:pPr marL="1030457" lvl="1" indent="-515228" algn="l">
                <a:lnSpc>
                  <a:spcPts val="6681"/>
                </a:lnSpc>
                <a:spcBef>
                  <a:spcPct val="0"/>
                </a:spcBef>
                <a:buAutoNum type="arabicPeriod"/>
              </a:pPr>
              <a:r>
                <a:rPr lang="en-US" sz="4772" dirty="0">
                  <a:solidFill>
                    <a:srgbClr val="00167A"/>
                  </a:solidFill>
                  <a:latin typeface="Times New Roman"/>
                  <a:ea typeface="Times New Roman"/>
                  <a:cs typeface="Times New Roman"/>
                  <a:sym typeface="Times New Roman"/>
                </a:rPr>
                <a:t>Raspberry Pi Zero 2W.</a:t>
              </a:r>
            </a:p>
          </p:txBody>
        </p:sp>
      </p:grpSp>
      <p:grpSp>
        <p:nvGrpSpPr>
          <p:cNvPr id="11" name="Group 22">
            <a:extLst>
              <a:ext uri="{FF2B5EF4-FFF2-40B4-BE49-F238E27FC236}">
                <a16:creationId xmlns:a16="http://schemas.microsoft.com/office/drawing/2014/main" id="{76869956-8FFD-BB8E-B582-F3DD27D39494}"/>
              </a:ext>
            </a:extLst>
          </p:cNvPr>
          <p:cNvGrpSpPr/>
          <p:nvPr/>
        </p:nvGrpSpPr>
        <p:grpSpPr>
          <a:xfrm>
            <a:off x="4417784" y="6184850"/>
            <a:ext cx="8313581" cy="3694520"/>
            <a:chOff x="-125496" y="310114"/>
            <a:chExt cx="14808469" cy="5233029"/>
          </a:xfrm>
        </p:grpSpPr>
        <p:sp>
          <p:nvSpPr>
            <p:cNvPr id="12" name="Freeform 23">
              <a:extLst>
                <a:ext uri="{FF2B5EF4-FFF2-40B4-BE49-F238E27FC236}">
                  <a16:creationId xmlns:a16="http://schemas.microsoft.com/office/drawing/2014/main" id="{4168F92E-A36F-03AA-6F57-7AC8A187D6FE}"/>
                </a:ext>
              </a:extLst>
            </p:cNvPr>
            <p:cNvSpPr/>
            <p:nvPr/>
          </p:nvSpPr>
          <p:spPr>
            <a:xfrm>
              <a:off x="7278740" y="386862"/>
              <a:ext cx="3809707" cy="4081183"/>
            </a:xfrm>
            <a:custGeom>
              <a:avLst/>
              <a:gdLst/>
              <a:ahLst/>
              <a:cxnLst/>
              <a:rect l="l" t="t" r="r" b="b"/>
              <a:pathLst>
                <a:path w="3809708" h="4081184">
                  <a:moveTo>
                    <a:pt x="0" y="0"/>
                  </a:moveTo>
                  <a:lnTo>
                    <a:pt x="3809708" y="0"/>
                  </a:lnTo>
                  <a:lnTo>
                    <a:pt x="3809708" y="4081184"/>
                  </a:lnTo>
                  <a:lnTo>
                    <a:pt x="0" y="4081184"/>
                  </a:lnTo>
                  <a:lnTo>
                    <a:pt x="0" y="0"/>
                  </a:lnTo>
                  <a:close/>
                </a:path>
              </a:pathLst>
            </a:custGeom>
            <a:blipFill>
              <a:blip r:embed="rId5"/>
              <a:stretch>
                <a:fillRect/>
              </a:stretch>
            </a:blipFill>
          </p:spPr>
          <p:txBody>
            <a:bodyPr/>
            <a:lstStyle/>
            <a:p>
              <a:endParaRPr lang="en-VN"/>
            </a:p>
          </p:txBody>
        </p:sp>
        <p:sp>
          <p:nvSpPr>
            <p:cNvPr id="13" name="Freeform 24">
              <a:extLst>
                <a:ext uri="{FF2B5EF4-FFF2-40B4-BE49-F238E27FC236}">
                  <a16:creationId xmlns:a16="http://schemas.microsoft.com/office/drawing/2014/main" id="{CD9A8834-3C37-1D42-E2E0-6D21A5278384}"/>
                </a:ext>
              </a:extLst>
            </p:cNvPr>
            <p:cNvSpPr/>
            <p:nvPr/>
          </p:nvSpPr>
          <p:spPr>
            <a:xfrm>
              <a:off x="2375260" y="310114"/>
              <a:ext cx="4511754" cy="3937530"/>
            </a:xfrm>
            <a:custGeom>
              <a:avLst/>
              <a:gdLst/>
              <a:ahLst/>
              <a:cxnLst/>
              <a:rect l="l" t="t" r="r" b="b"/>
              <a:pathLst>
                <a:path w="4511753" h="3937530">
                  <a:moveTo>
                    <a:pt x="0" y="0"/>
                  </a:moveTo>
                  <a:lnTo>
                    <a:pt x="4511753" y="0"/>
                  </a:lnTo>
                  <a:lnTo>
                    <a:pt x="4511753" y="3937530"/>
                  </a:lnTo>
                  <a:lnTo>
                    <a:pt x="0" y="3937530"/>
                  </a:lnTo>
                  <a:lnTo>
                    <a:pt x="0" y="0"/>
                  </a:lnTo>
                  <a:close/>
                </a:path>
              </a:pathLst>
            </a:custGeom>
            <a:blipFill>
              <a:blip r:embed="rId6"/>
              <a:stretch>
                <a:fillRect/>
              </a:stretch>
            </a:blipFill>
          </p:spPr>
          <p:txBody>
            <a:bodyPr/>
            <a:lstStyle/>
            <a:p>
              <a:endParaRPr lang="en-VN" dirty="0"/>
            </a:p>
          </p:txBody>
        </p:sp>
        <p:sp>
          <p:nvSpPr>
            <p:cNvPr id="14" name="TextBox 25">
              <a:extLst>
                <a:ext uri="{FF2B5EF4-FFF2-40B4-BE49-F238E27FC236}">
                  <a16:creationId xmlns:a16="http://schemas.microsoft.com/office/drawing/2014/main" id="{83E21DCF-D761-991B-3547-BD6167DE38CA}"/>
                </a:ext>
              </a:extLst>
            </p:cNvPr>
            <p:cNvSpPr txBox="1"/>
            <p:nvPr/>
          </p:nvSpPr>
          <p:spPr>
            <a:xfrm>
              <a:off x="-125496" y="4427217"/>
              <a:ext cx="14808469" cy="1115926"/>
            </a:xfrm>
            <a:prstGeom prst="rect">
              <a:avLst/>
            </a:prstGeom>
          </p:spPr>
          <p:txBody>
            <a:bodyPr wrap="square" lIns="0" tIns="0" rIns="0" bIns="0" rtlCol="0" anchor="t">
              <a:spAutoFit/>
            </a:bodyPr>
            <a:lstStyle/>
            <a:p>
              <a:pPr marL="515021" lvl="1" algn="l">
                <a:lnSpc>
                  <a:spcPts val="6679"/>
                </a:lnSpc>
              </a:pPr>
              <a:r>
                <a:rPr lang="en-US" sz="4770" dirty="0">
                  <a:solidFill>
                    <a:srgbClr val="00167A"/>
                  </a:solidFill>
                  <a:latin typeface="Times New Roman"/>
                  <a:ea typeface="Times New Roman"/>
                  <a:cs typeface="Times New Roman"/>
                  <a:sym typeface="Times New Roman"/>
                </a:rPr>
                <a:t>4. Loa </a:t>
              </a:r>
              <a:r>
                <a:rPr lang="en-US" sz="4770" dirty="0" err="1">
                  <a:solidFill>
                    <a:srgbClr val="00167A"/>
                  </a:solidFill>
                  <a:latin typeface="Times New Roman"/>
                  <a:ea typeface="Times New Roman"/>
                  <a:cs typeface="Times New Roman"/>
                  <a:sym typeface="Times New Roman"/>
                </a:rPr>
                <a:t>và</a:t>
              </a:r>
              <a:r>
                <a:rPr lang="en-US" sz="4770" dirty="0">
                  <a:solidFill>
                    <a:srgbClr val="00167A"/>
                  </a:solidFill>
                  <a:latin typeface="Times New Roman"/>
                  <a:ea typeface="Times New Roman"/>
                  <a:cs typeface="Times New Roman"/>
                  <a:sym typeface="Times New Roman"/>
                </a:rPr>
                <a:t> </a:t>
              </a:r>
              <a:r>
                <a:rPr lang="en-US" sz="4770" dirty="0" err="1">
                  <a:solidFill>
                    <a:srgbClr val="00167A"/>
                  </a:solidFill>
                  <a:latin typeface="Times New Roman"/>
                  <a:ea typeface="Times New Roman"/>
                  <a:cs typeface="Times New Roman"/>
                  <a:sym typeface="Times New Roman"/>
                </a:rPr>
                <a:t>mạch</a:t>
              </a:r>
              <a:r>
                <a:rPr lang="en-US" sz="4770" dirty="0">
                  <a:solidFill>
                    <a:srgbClr val="00167A"/>
                  </a:solidFill>
                  <a:latin typeface="Times New Roman"/>
                  <a:ea typeface="Times New Roman"/>
                  <a:cs typeface="Times New Roman"/>
                  <a:sym typeface="Times New Roman"/>
                </a:rPr>
                <a:t> </a:t>
              </a:r>
              <a:r>
                <a:rPr lang="en-US" sz="4770" dirty="0" err="1">
                  <a:solidFill>
                    <a:srgbClr val="00167A"/>
                  </a:solidFill>
                  <a:latin typeface="Times New Roman"/>
                  <a:ea typeface="Times New Roman"/>
                  <a:cs typeface="Times New Roman"/>
                  <a:sym typeface="Times New Roman"/>
                </a:rPr>
                <a:t>xử</a:t>
              </a:r>
              <a:r>
                <a:rPr lang="en-US" sz="4770" dirty="0">
                  <a:solidFill>
                    <a:srgbClr val="00167A"/>
                  </a:solidFill>
                  <a:latin typeface="Times New Roman"/>
                  <a:ea typeface="Times New Roman"/>
                  <a:cs typeface="Times New Roman"/>
                  <a:sym typeface="Times New Roman"/>
                </a:rPr>
                <a:t> </a:t>
              </a:r>
              <a:r>
                <a:rPr lang="en-US" sz="4770" dirty="0" err="1">
                  <a:solidFill>
                    <a:srgbClr val="00167A"/>
                  </a:solidFill>
                  <a:latin typeface="Times New Roman"/>
                  <a:ea typeface="Times New Roman"/>
                  <a:cs typeface="Times New Roman"/>
                  <a:sym typeface="Times New Roman"/>
                </a:rPr>
                <a:t>lý</a:t>
              </a:r>
              <a:r>
                <a:rPr lang="en-US" sz="4770" dirty="0">
                  <a:solidFill>
                    <a:srgbClr val="00167A"/>
                  </a:solidFill>
                  <a:latin typeface="Times New Roman"/>
                  <a:ea typeface="Times New Roman"/>
                  <a:cs typeface="Times New Roman"/>
                  <a:sym typeface="Times New Roman"/>
                </a:rPr>
                <a:t> </a:t>
              </a:r>
              <a:r>
                <a:rPr lang="en-US" sz="4770" dirty="0" err="1">
                  <a:solidFill>
                    <a:srgbClr val="00167A"/>
                  </a:solidFill>
                  <a:latin typeface="Times New Roman"/>
                  <a:ea typeface="Times New Roman"/>
                  <a:cs typeface="Times New Roman"/>
                  <a:sym typeface="Times New Roman"/>
                </a:rPr>
                <a:t>âm</a:t>
              </a:r>
              <a:r>
                <a:rPr lang="en-US" sz="4770" dirty="0">
                  <a:solidFill>
                    <a:srgbClr val="00167A"/>
                  </a:solidFill>
                  <a:latin typeface="Times New Roman"/>
                  <a:ea typeface="Times New Roman"/>
                  <a:cs typeface="Times New Roman"/>
                  <a:sym typeface="Times New Roman"/>
                </a:rPr>
                <a:t> </a:t>
              </a:r>
              <a:r>
                <a:rPr lang="en-US" sz="4770" dirty="0" err="1">
                  <a:solidFill>
                    <a:srgbClr val="00167A"/>
                  </a:solidFill>
                  <a:latin typeface="Times New Roman"/>
                  <a:ea typeface="Times New Roman"/>
                  <a:cs typeface="Times New Roman"/>
                  <a:sym typeface="Times New Roman"/>
                </a:rPr>
                <a:t>thanh</a:t>
              </a:r>
              <a:r>
                <a:rPr lang="en-US" sz="4770" dirty="0">
                  <a:solidFill>
                    <a:srgbClr val="00167A"/>
                  </a:solidFill>
                  <a:latin typeface="Times New Roman"/>
                  <a:ea typeface="Times New Roman"/>
                  <a:cs typeface="Times New Roman"/>
                  <a:sym typeface="Times New Roman"/>
                </a:rPr>
                <a:t>.</a:t>
              </a:r>
            </a:p>
          </p:txBody>
        </p:sp>
      </p:grpSp>
      <p:grpSp>
        <p:nvGrpSpPr>
          <p:cNvPr id="15" name="Group 19">
            <a:extLst>
              <a:ext uri="{FF2B5EF4-FFF2-40B4-BE49-F238E27FC236}">
                <a16:creationId xmlns:a16="http://schemas.microsoft.com/office/drawing/2014/main" id="{BEF8DC1D-EEFA-6D47-D066-04FF7A530669}"/>
              </a:ext>
            </a:extLst>
          </p:cNvPr>
          <p:cNvGrpSpPr/>
          <p:nvPr/>
        </p:nvGrpSpPr>
        <p:grpSpPr>
          <a:xfrm>
            <a:off x="6889595" y="2274742"/>
            <a:ext cx="7201898" cy="2868758"/>
            <a:chOff x="0" y="477539"/>
            <a:chExt cx="9602531" cy="3825010"/>
          </a:xfrm>
        </p:grpSpPr>
        <p:sp>
          <p:nvSpPr>
            <p:cNvPr id="16" name="Freeform 20">
              <a:extLst>
                <a:ext uri="{FF2B5EF4-FFF2-40B4-BE49-F238E27FC236}">
                  <a16:creationId xmlns:a16="http://schemas.microsoft.com/office/drawing/2014/main" id="{CEA7EC92-1AE2-6574-34C9-0A074544D422}"/>
                </a:ext>
              </a:extLst>
            </p:cNvPr>
            <p:cNvSpPr/>
            <p:nvPr/>
          </p:nvSpPr>
          <p:spPr>
            <a:xfrm>
              <a:off x="3100873" y="477539"/>
              <a:ext cx="3049952" cy="2686280"/>
            </a:xfrm>
            <a:custGeom>
              <a:avLst/>
              <a:gdLst/>
              <a:ahLst/>
              <a:cxnLst/>
              <a:rect l="l" t="t" r="r" b="b"/>
              <a:pathLst>
                <a:path w="3190688" h="3163819">
                  <a:moveTo>
                    <a:pt x="0" y="0"/>
                  </a:moveTo>
                  <a:lnTo>
                    <a:pt x="3190688" y="0"/>
                  </a:lnTo>
                  <a:lnTo>
                    <a:pt x="3190688" y="3163819"/>
                  </a:lnTo>
                  <a:lnTo>
                    <a:pt x="0" y="3163819"/>
                  </a:lnTo>
                  <a:lnTo>
                    <a:pt x="0" y="0"/>
                  </a:lnTo>
                  <a:close/>
                </a:path>
              </a:pathLst>
            </a:custGeom>
            <a:blipFill>
              <a:blip r:embed="rId7"/>
              <a:stretch>
                <a:fillRect/>
              </a:stretch>
            </a:blipFill>
          </p:spPr>
          <p:txBody>
            <a:bodyPr/>
            <a:lstStyle/>
            <a:p>
              <a:endParaRPr lang="en-VN"/>
            </a:p>
          </p:txBody>
        </p:sp>
        <p:sp>
          <p:nvSpPr>
            <p:cNvPr id="17" name="TextBox 21">
              <a:extLst>
                <a:ext uri="{FF2B5EF4-FFF2-40B4-BE49-F238E27FC236}">
                  <a16:creationId xmlns:a16="http://schemas.microsoft.com/office/drawing/2014/main" id="{C7B32FF9-A41F-270F-6421-6B7E6BD15DE1}"/>
                </a:ext>
              </a:extLst>
            </p:cNvPr>
            <p:cNvSpPr txBox="1"/>
            <p:nvPr/>
          </p:nvSpPr>
          <p:spPr>
            <a:xfrm>
              <a:off x="0" y="3252091"/>
              <a:ext cx="9602531" cy="1050458"/>
            </a:xfrm>
            <a:prstGeom prst="rect">
              <a:avLst/>
            </a:prstGeom>
          </p:spPr>
          <p:txBody>
            <a:bodyPr wrap="square" lIns="0" tIns="0" rIns="0" bIns="0" rtlCol="0" anchor="t">
              <a:spAutoFit/>
            </a:bodyPr>
            <a:lstStyle/>
            <a:p>
              <a:pPr marL="515021" lvl="1" algn="l">
                <a:lnSpc>
                  <a:spcPts val="6679"/>
                </a:lnSpc>
              </a:pPr>
              <a:r>
                <a:rPr lang="en-US" sz="4770" dirty="0">
                  <a:solidFill>
                    <a:srgbClr val="00167A"/>
                  </a:solidFill>
                  <a:latin typeface="Times New Roman"/>
                  <a:ea typeface="Times New Roman"/>
                  <a:cs typeface="Times New Roman"/>
                  <a:sym typeface="Times New Roman"/>
                </a:rPr>
                <a:t>2. Camera Raspberry CSI.</a:t>
              </a:r>
            </a:p>
          </p:txBody>
        </p:sp>
      </p:grpSp>
      <p:grpSp>
        <p:nvGrpSpPr>
          <p:cNvPr id="18" name="Group 26">
            <a:extLst>
              <a:ext uri="{FF2B5EF4-FFF2-40B4-BE49-F238E27FC236}">
                <a16:creationId xmlns:a16="http://schemas.microsoft.com/office/drawing/2014/main" id="{8B4E16F8-E08F-853A-7620-B387C0B77C6F}"/>
              </a:ext>
            </a:extLst>
          </p:cNvPr>
          <p:cNvGrpSpPr/>
          <p:nvPr/>
        </p:nvGrpSpPr>
        <p:grpSpPr>
          <a:xfrm>
            <a:off x="-92373" y="6834866"/>
            <a:ext cx="3803745" cy="3094869"/>
            <a:chOff x="0" y="206555"/>
            <a:chExt cx="5071659" cy="4126491"/>
          </a:xfrm>
        </p:grpSpPr>
        <p:sp>
          <p:nvSpPr>
            <p:cNvPr id="19" name="Freeform 27">
              <a:extLst>
                <a:ext uri="{FF2B5EF4-FFF2-40B4-BE49-F238E27FC236}">
                  <a16:creationId xmlns:a16="http://schemas.microsoft.com/office/drawing/2014/main" id="{B0F6B4FC-3A9C-EFD8-597B-DCC2754B736B}"/>
                </a:ext>
              </a:extLst>
            </p:cNvPr>
            <p:cNvSpPr/>
            <p:nvPr/>
          </p:nvSpPr>
          <p:spPr>
            <a:xfrm>
              <a:off x="940637" y="206555"/>
              <a:ext cx="3758990" cy="3396886"/>
            </a:xfrm>
            <a:custGeom>
              <a:avLst/>
              <a:gdLst/>
              <a:ahLst/>
              <a:cxnLst/>
              <a:rect l="l" t="t" r="r" b="b"/>
              <a:pathLst>
                <a:path w="3758990" h="3396886">
                  <a:moveTo>
                    <a:pt x="0" y="0"/>
                  </a:moveTo>
                  <a:lnTo>
                    <a:pt x="3758990" y="0"/>
                  </a:lnTo>
                  <a:lnTo>
                    <a:pt x="3758990" y="3396886"/>
                  </a:lnTo>
                  <a:lnTo>
                    <a:pt x="0" y="3396886"/>
                  </a:lnTo>
                  <a:lnTo>
                    <a:pt x="0" y="0"/>
                  </a:lnTo>
                  <a:close/>
                </a:path>
              </a:pathLst>
            </a:custGeom>
            <a:blipFill>
              <a:blip r:embed="rId8"/>
              <a:stretch>
                <a:fillRect/>
              </a:stretch>
            </a:blipFill>
          </p:spPr>
          <p:txBody>
            <a:bodyPr/>
            <a:lstStyle/>
            <a:p>
              <a:endParaRPr lang="en-VN"/>
            </a:p>
          </p:txBody>
        </p:sp>
        <p:sp>
          <p:nvSpPr>
            <p:cNvPr id="20" name="TextBox 28">
              <a:extLst>
                <a:ext uri="{FF2B5EF4-FFF2-40B4-BE49-F238E27FC236}">
                  <a16:creationId xmlns:a16="http://schemas.microsoft.com/office/drawing/2014/main" id="{D76C05D7-CEB2-D97E-56EB-900C9D65FD70}"/>
                </a:ext>
              </a:extLst>
            </p:cNvPr>
            <p:cNvSpPr txBox="1"/>
            <p:nvPr/>
          </p:nvSpPr>
          <p:spPr>
            <a:xfrm>
              <a:off x="0" y="3282587"/>
              <a:ext cx="5071659" cy="1050459"/>
            </a:xfrm>
            <a:prstGeom prst="rect">
              <a:avLst/>
            </a:prstGeom>
          </p:spPr>
          <p:txBody>
            <a:bodyPr lIns="0" tIns="0" rIns="0" bIns="0" rtlCol="0" anchor="t">
              <a:spAutoFit/>
            </a:bodyPr>
            <a:lstStyle/>
            <a:p>
              <a:pPr marL="515021" lvl="1" algn="ctr">
                <a:lnSpc>
                  <a:spcPts val="6679"/>
                </a:lnSpc>
              </a:pPr>
              <a:r>
                <a:rPr lang="en-US" sz="4770" dirty="0">
                  <a:solidFill>
                    <a:srgbClr val="00167A"/>
                  </a:solidFill>
                  <a:latin typeface="Times New Roman"/>
                  <a:ea typeface="Times New Roman"/>
                  <a:cs typeface="Times New Roman"/>
                  <a:sym typeface="Times New Roman"/>
                </a:rPr>
                <a:t>3. Công </a:t>
              </a:r>
              <a:r>
                <a:rPr lang="en-US" sz="4770" dirty="0" err="1">
                  <a:solidFill>
                    <a:srgbClr val="00167A"/>
                  </a:solidFill>
                  <a:latin typeface="Times New Roman"/>
                  <a:ea typeface="Times New Roman"/>
                  <a:cs typeface="Times New Roman"/>
                  <a:sym typeface="Times New Roman"/>
                </a:rPr>
                <a:t>tắc</a:t>
              </a:r>
              <a:r>
                <a:rPr lang="en-US" sz="4770" dirty="0">
                  <a:solidFill>
                    <a:srgbClr val="00167A"/>
                  </a:solidFill>
                  <a:latin typeface="Times New Roman"/>
                  <a:ea typeface="Times New Roman"/>
                  <a:cs typeface="Times New Roman"/>
                  <a:sym typeface="Times New Roman"/>
                </a:rPr>
                <a:t>.</a:t>
              </a:r>
            </a:p>
          </p:txBody>
        </p:sp>
      </p:grpSp>
      <p:grpSp>
        <p:nvGrpSpPr>
          <p:cNvPr id="21" name="Group 29">
            <a:extLst>
              <a:ext uri="{FF2B5EF4-FFF2-40B4-BE49-F238E27FC236}">
                <a16:creationId xmlns:a16="http://schemas.microsoft.com/office/drawing/2014/main" id="{D43F569E-5171-9DFE-4CBC-62764A8A3A8C}"/>
              </a:ext>
            </a:extLst>
          </p:cNvPr>
          <p:cNvGrpSpPr/>
          <p:nvPr/>
        </p:nvGrpSpPr>
        <p:grpSpPr>
          <a:xfrm rot="5400000">
            <a:off x="12299623" y="3071890"/>
            <a:ext cx="5931334" cy="5566490"/>
            <a:chOff x="0" y="-1903209"/>
            <a:chExt cx="7908445" cy="7421986"/>
          </a:xfrm>
        </p:grpSpPr>
        <p:sp>
          <p:nvSpPr>
            <p:cNvPr id="22" name="Freeform 30">
              <a:extLst>
                <a:ext uri="{FF2B5EF4-FFF2-40B4-BE49-F238E27FC236}">
                  <a16:creationId xmlns:a16="http://schemas.microsoft.com/office/drawing/2014/main" id="{861D8D32-75CA-4517-0DD1-80F21265478C}"/>
                </a:ext>
              </a:extLst>
            </p:cNvPr>
            <p:cNvSpPr/>
            <p:nvPr/>
          </p:nvSpPr>
          <p:spPr>
            <a:xfrm rot="-5400000">
              <a:off x="1792777" y="-1792777"/>
              <a:ext cx="3412726" cy="6998280"/>
            </a:xfrm>
            <a:custGeom>
              <a:avLst/>
              <a:gdLst/>
              <a:ahLst/>
              <a:cxnLst/>
              <a:rect l="l" t="t" r="r" b="b"/>
              <a:pathLst>
                <a:path w="3412726" h="6998280">
                  <a:moveTo>
                    <a:pt x="0" y="0"/>
                  </a:moveTo>
                  <a:lnTo>
                    <a:pt x="3412726" y="0"/>
                  </a:lnTo>
                  <a:lnTo>
                    <a:pt x="3412726" y="6998280"/>
                  </a:lnTo>
                  <a:lnTo>
                    <a:pt x="0" y="6998280"/>
                  </a:lnTo>
                  <a:lnTo>
                    <a:pt x="0" y="0"/>
                  </a:lnTo>
                  <a:close/>
                </a:path>
              </a:pathLst>
            </a:custGeom>
            <a:blipFill>
              <a:blip r:embed="rId9"/>
              <a:stretch>
                <a:fillRect r="-12220"/>
              </a:stretch>
            </a:blipFill>
          </p:spPr>
          <p:txBody>
            <a:bodyPr/>
            <a:lstStyle/>
            <a:p>
              <a:endParaRPr lang="en-VN"/>
            </a:p>
          </p:txBody>
        </p:sp>
        <p:sp>
          <p:nvSpPr>
            <p:cNvPr id="23" name="TextBox 31">
              <a:extLst>
                <a:ext uri="{FF2B5EF4-FFF2-40B4-BE49-F238E27FC236}">
                  <a16:creationId xmlns:a16="http://schemas.microsoft.com/office/drawing/2014/main" id="{2A8756D8-9BFE-071F-669F-F3F6A5038B77}"/>
                </a:ext>
              </a:extLst>
            </p:cNvPr>
            <p:cNvSpPr txBox="1"/>
            <p:nvPr/>
          </p:nvSpPr>
          <p:spPr>
            <a:xfrm rot="16200000">
              <a:off x="3660025" y="1270356"/>
              <a:ext cx="7421986" cy="1074855"/>
            </a:xfrm>
            <a:prstGeom prst="rect">
              <a:avLst/>
            </a:prstGeom>
          </p:spPr>
          <p:txBody>
            <a:bodyPr lIns="0" tIns="0" rIns="0" bIns="0" rtlCol="0" anchor="t">
              <a:spAutoFit/>
            </a:bodyPr>
            <a:lstStyle/>
            <a:p>
              <a:pPr marL="515021" lvl="1" algn="l">
                <a:lnSpc>
                  <a:spcPts val="6679"/>
                </a:lnSpc>
              </a:pPr>
              <a:r>
                <a:rPr lang="en-US" sz="4770" dirty="0">
                  <a:solidFill>
                    <a:srgbClr val="00167A"/>
                  </a:solidFill>
                  <a:latin typeface="Times New Roman"/>
                  <a:ea typeface="Times New Roman"/>
                  <a:cs typeface="Times New Roman"/>
                  <a:sym typeface="Times New Roman"/>
                </a:rPr>
                <a:t>5. Pin </a:t>
              </a:r>
              <a:r>
                <a:rPr lang="en-US" sz="4770" dirty="0" err="1">
                  <a:solidFill>
                    <a:srgbClr val="00167A"/>
                  </a:solidFill>
                  <a:latin typeface="Times New Roman"/>
                  <a:ea typeface="Times New Roman"/>
                  <a:cs typeface="Times New Roman"/>
                  <a:sym typeface="Times New Roman"/>
                </a:rPr>
                <a:t>sạc</a:t>
              </a:r>
              <a:r>
                <a:rPr lang="en-US" sz="4770" dirty="0">
                  <a:solidFill>
                    <a:srgbClr val="00167A"/>
                  </a:solidFill>
                  <a:latin typeface="Times New Roman"/>
                  <a:ea typeface="Times New Roman"/>
                  <a:cs typeface="Times New Roman"/>
                  <a:sym typeface="Times New Roman"/>
                </a:rPr>
                <a:t> </a:t>
              </a:r>
              <a:r>
                <a:rPr lang="en-US" sz="4770" dirty="0" err="1">
                  <a:solidFill>
                    <a:srgbClr val="00167A"/>
                  </a:solidFill>
                  <a:latin typeface="Times New Roman"/>
                  <a:ea typeface="Times New Roman"/>
                  <a:cs typeface="Times New Roman"/>
                  <a:sym typeface="Times New Roman"/>
                </a:rPr>
                <a:t>dự</a:t>
              </a:r>
              <a:r>
                <a:rPr lang="en-US" sz="4770" dirty="0">
                  <a:solidFill>
                    <a:srgbClr val="00167A"/>
                  </a:solidFill>
                  <a:latin typeface="Times New Roman"/>
                  <a:ea typeface="Times New Roman"/>
                  <a:cs typeface="Times New Roman"/>
                  <a:sym typeface="Times New Roman"/>
                </a:rPr>
                <a:t> </a:t>
              </a:r>
              <a:r>
                <a:rPr lang="en-US" sz="4770" dirty="0" err="1">
                  <a:solidFill>
                    <a:srgbClr val="00167A"/>
                  </a:solidFill>
                  <a:latin typeface="Times New Roman"/>
                  <a:ea typeface="Times New Roman"/>
                  <a:cs typeface="Times New Roman"/>
                  <a:sym typeface="Times New Roman"/>
                </a:rPr>
                <a:t>phòng</a:t>
              </a:r>
              <a:r>
                <a:rPr lang="en-US" sz="4770" dirty="0">
                  <a:solidFill>
                    <a:srgbClr val="00167A"/>
                  </a:solidFill>
                  <a:latin typeface="Times New Roman"/>
                  <a:ea typeface="Times New Roman"/>
                  <a:cs typeface="Times New Roman"/>
                  <a:sym typeface="Times New Roman"/>
                </a:rPr>
                <a:t>.</a:t>
              </a:r>
            </a:p>
          </p:txBody>
        </p:sp>
      </p:grpSp>
      <p:grpSp>
        <p:nvGrpSpPr>
          <p:cNvPr id="3" name="Group 7">
            <a:extLst>
              <a:ext uri="{FF2B5EF4-FFF2-40B4-BE49-F238E27FC236}">
                <a16:creationId xmlns:a16="http://schemas.microsoft.com/office/drawing/2014/main" id="{4F806799-0ED9-E57C-89D3-AE2432635708}"/>
              </a:ext>
            </a:extLst>
          </p:cNvPr>
          <p:cNvGrpSpPr/>
          <p:nvPr/>
        </p:nvGrpSpPr>
        <p:grpSpPr>
          <a:xfrm>
            <a:off x="4171106" y="0"/>
            <a:ext cx="9945787" cy="1567627"/>
            <a:chOff x="0" y="-85725"/>
            <a:chExt cx="2619467" cy="412873"/>
          </a:xfrm>
        </p:grpSpPr>
        <p:sp>
          <p:nvSpPr>
            <p:cNvPr id="4" name="Freeform 8">
              <a:extLst>
                <a:ext uri="{FF2B5EF4-FFF2-40B4-BE49-F238E27FC236}">
                  <a16:creationId xmlns:a16="http://schemas.microsoft.com/office/drawing/2014/main" id="{E86A603D-E568-C32B-14E1-BDE0406D1327}"/>
                </a:ext>
              </a:extLst>
            </p:cNvPr>
            <p:cNvSpPr/>
            <p:nvPr/>
          </p:nvSpPr>
          <p:spPr>
            <a:xfrm>
              <a:off x="0" y="-37117"/>
              <a:ext cx="2619467" cy="250425"/>
            </a:xfrm>
            <a:custGeom>
              <a:avLst/>
              <a:gdLst/>
              <a:ahLst/>
              <a:cxnLst/>
              <a:rect l="l" t="t" r="r" b="b"/>
              <a:pathLst>
                <a:path w="2619467" h="327148">
                  <a:moveTo>
                    <a:pt x="39699" y="0"/>
                  </a:moveTo>
                  <a:lnTo>
                    <a:pt x="2579768" y="0"/>
                  </a:lnTo>
                  <a:cubicBezTo>
                    <a:pt x="2601693" y="0"/>
                    <a:pt x="2619467" y="17774"/>
                    <a:pt x="2619467" y="39699"/>
                  </a:cubicBezTo>
                  <a:lnTo>
                    <a:pt x="2619467" y="287449"/>
                  </a:lnTo>
                  <a:cubicBezTo>
                    <a:pt x="2619467" y="309374"/>
                    <a:pt x="2601693" y="327148"/>
                    <a:pt x="2579768" y="327148"/>
                  </a:cubicBezTo>
                  <a:lnTo>
                    <a:pt x="39699" y="327148"/>
                  </a:lnTo>
                  <a:cubicBezTo>
                    <a:pt x="17774" y="327148"/>
                    <a:pt x="0" y="309374"/>
                    <a:pt x="0" y="287449"/>
                  </a:cubicBezTo>
                  <a:lnTo>
                    <a:pt x="0" y="39699"/>
                  </a:lnTo>
                  <a:cubicBezTo>
                    <a:pt x="0" y="17774"/>
                    <a:pt x="17774" y="0"/>
                    <a:pt x="39699" y="0"/>
                  </a:cubicBezTo>
                  <a:close/>
                </a:path>
              </a:pathLst>
            </a:custGeom>
            <a:gradFill rotWithShape="1">
              <a:gsLst>
                <a:gs pos="0">
                  <a:srgbClr val="8C01BF">
                    <a:alpha val="100000"/>
                  </a:srgbClr>
                </a:gs>
                <a:gs pos="50000">
                  <a:srgbClr val="5C09C5">
                    <a:alpha val="100000"/>
                  </a:srgbClr>
                </a:gs>
                <a:gs pos="100000">
                  <a:srgbClr val="4F03E9">
                    <a:alpha val="100000"/>
                  </a:srgbClr>
                </a:gs>
              </a:gsLst>
              <a:lin ang="0"/>
            </a:gradFill>
          </p:spPr>
          <p:txBody>
            <a:bodyPr/>
            <a:lstStyle/>
            <a:p>
              <a:endParaRPr lang="en-VN"/>
            </a:p>
          </p:txBody>
        </p:sp>
        <p:sp>
          <p:nvSpPr>
            <p:cNvPr id="5" name="TextBox 9">
              <a:extLst>
                <a:ext uri="{FF2B5EF4-FFF2-40B4-BE49-F238E27FC236}">
                  <a16:creationId xmlns:a16="http://schemas.microsoft.com/office/drawing/2014/main" id="{7DD6E7FB-CE47-A8E1-6C5A-7917CDAD0F49}"/>
                </a:ext>
              </a:extLst>
            </p:cNvPr>
            <p:cNvSpPr txBox="1"/>
            <p:nvPr/>
          </p:nvSpPr>
          <p:spPr>
            <a:xfrm>
              <a:off x="0" y="-85725"/>
              <a:ext cx="2619467" cy="412873"/>
            </a:xfrm>
            <a:prstGeom prst="rect">
              <a:avLst/>
            </a:prstGeom>
          </p:spPr>
          <p:txBody>
            <a:bodyPr lIns="50800" tIns="50800" rIns="50800" bIns="50800" rtlCol="0" anchor="ctr"/>
            <a:lstStyle/>
            <a:p>
              <a:pPr algn="ctr">
                <a:lnSpc>
                  <a:spcPts val="6579"/>
                </a:lnSpc>
                <a:spcBef>
                  <a:spcPct val="0"/>
                </a:spcBef>
              </a:pPr>
              <a:r>
                <a:rPr lang="en-US" sz="4699" spc="465" dirty="0">
                  <a:solidFill>
                    <a:srgbClr val="FFFFFF"/>
                  </a:solidFill>
                  <a:latin typeface="Bevan"/>
                  <a:ea typeface="Bevan"/>
                  <a:cs typeface="Bevan"/>
                  <a:sym typeface="Bevan"/>
                </a:rPr>
                <a:t>CẤU TẠO</a:t>
              </a:r>
            </a:p>
          </p:txBody>
        </p:sp>
      </p:grpSp>
    </p:spTree>
    <p:extLst>
      <p:ext uri="{BB962C8B-B14F-4D97-AF65-F5344CB8AC3E}">
        <p14:creationId xmlns:p14="http://schemas.microsoft.com/office/powerpoint/2010/main" val="2267396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1+#ppt_w/2"/>
                                          </p:val>
                                        </p:tav>
                                        <p:tav tm="100000">
                                          <p:val>
                                            <p:strVal val="#ppt_x"/>
                                          </p:val>
                                        </p:tav>
                                      </p:tavLst>
                                    </p:anim>
                                    <p:anim calcmode="lin" valueType="num">
                                      <p:cBhvr additive="base">
                                        <p:cTn id="13" dur="500" fill="hold"/>
                                        <p:tgtEl>
                                          <p:spTgt spid="1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2" fill="hold" nodeType="after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1+#ppt_w/2"/>
                                          </p:val>
                                        </p:tav>
                                        <p:tav tm="100000">
                                          <p:val>
                                            <p:strVal val="#ppt_x"/>
                                          </p:val>
                                        </p:tav>
                                      </p:tavLst>
                                    </p:anim>
                                    <p:anim calcmode="lin" valueType="num">
                                      <p:cBhvr additive="base">
                                        <p:cTn id="2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217321" y="-240599"/>
            <a:ext cx="2916262" cy="2916262"/>
          </a:xfrm>
          <a:custGeom>
            <a:avLst/>
            <a:gdLst/>
            <a:ahLst/>
            <a:cxnLst/>
            <a:rect l="l" t="t" r="r" b="b"/>
            <a:pathLst>
              <a:path w="2916262" h="2916262">
                <a:moveTo>
                  <a:pt x="0" y="0"/>
                </a:moveTo>
                <a:lnTo>
                  <a:pt x="2916262" y="0"/>
                </a:lnTo>
                <a:lnTo>
                  <a:pt x="2916262" y="2916262"/>
                </a:lnTo>
                <a:lnTo>
                  <a:pt x="0" y="2916262"/>
                </a:lnTo>
                <a:lnTo>
                  <a:pt x="0" y="0"/>
                </a:lnTo>
                <a:close/>
              </a:path>
            </a:pathLst>
          </a:custGeom>
          <a:blipFill>
            <a:blip r:embed="rId3"/>
            <a:stretch>
              <a:fillRect/>
            </a:stretch>
          </a:blipFill>
        </p:spPr>
        <p:txBody>
          <a:bodyPr/>
          <a:lstStyle/>
          <a:p>
            <a:endParaRPr lang="en-VN"/>
          </a:p>
        </p:txBody>
      </p:sp>
      <p:grpSp>
        <p:nvGrpSpPr>
          <p:cNvPr id="9" name="Group 9"/>
          <p:cNvGrpSpPr/>
          <p:nvPr/>
        </p:nvGrpSpPr>
        <p:grpSpPr>
          <a:xfrm>
            <a:off x="5105400" y="2171700"/>
            <a:ext cx="9677400" cy="6460140"/>
            <a:chOff x="0" y="0"/>
            <a:chExt cx="14678744" cy="8757249"/>
          </a:xfrm>
        </p:grpSpPr>
        <p:sp>
          <p:nvSpPr>
            <p:cNvPr id="10" name="Freeform 10"/>
            <p:cNvSpPr/>
            <p:nvPr/>
          </p:nvSpPr>
          <p:spPr>
            <a:xfrm>
              <a:off x="947410" y="0"/>
              <a:ext cx="12352492" cy="7901112"/>
            </a:xfrm>
            <a:custGeom>
              <a:avLst/>
              <a:gdLst/>
              <a:ahLst/>
              <a:cxnLst/>
              <a:rect l="l" t="t" r="r" b="b"/>
              <a:pathLst>
                <a:path w="12352492" h="7901112">
                  <a:moveTo>
                    <a:pt x="0" y="0"/>
                  </a:moveTo>
                  <a:lnTo>
                    <a:pt x="12352492" y="0"/>
                  </a:lnTo>
                  <a:lnTo>
                    <a:pt x="12352492" y="7901112"/>
                  </a:lnTo>
                  <a:lnTo>
                    <a:pt x="0" y="7901112"/>
                  </a:lnTo>
                  <a:lnTo>
                    <a:pt x="0" y="0"/>
                  </a:lnTo>
                  <a:close/>
                </a:path>
              </a:pathLst>
            </a:custGeom>
            <a:blipFill>
              <a:blip r:embed="rId4"/>
              <a:stretch>
                <a:fillRect b="-4160"/>
              </a:stretch>
            </a:blipFill>
          </p:spPr>
          <p:txBody>
            <a:bodyPr/>
            <a:lstStyle/>
            <a:p>
              <a:endParaRPr lang="en-VN"/>
            </a:p>
          </p:txBody>
        </p:sp>
        <p:sp>
          <p:nvSpPr>
            <p:cNvPr id="11" name="AutoShape 11"/>
            <p:cNvSpPr/>
            <p:nvPr/>
          </p:nvSpPr>
          <p:spPr>
            <a:xfrm flipH="1">
              <a:off x="6405808" y="7215323"/>
              <a:ext cx="0" cy="1137801"/>
            </a:xfrm>
            <a:prstGeom prst="line">
              <a:avLst/>
            </a:prstGeom>
            <a:ln w="49527" cap="flat">
              <a:solidFill>
                <a:srgbClr val="000000"/>
              </a:solidFill>
              <a:prstDash val="solid"/>
              <a:headEnd type="none" w="sm" len="sm"/>
              <a:tailEnd type="triangle" w="lg" len="med"/>
            </a:ln>
          </p:spPr>
          <p:txBody>
            <a:bodyPr/>
            <a:lstStyle/>
            <a:p>
              <a:endParaRPr lang="en-VN"/>
            </a:p>
          </p:txBody>
        </p:sp>
        <p:sp>
          <p:nvSpPr>
            <p:cNvPr id="12" name="AutoShape 12"/>
            <p:cNvSpPr/>
            <p:nvPr/>
          </p:nvSpPr>
          <p:spPr>
            <a:xfrm flipH="1" flipV="1">
              <a:off x="378510" y="3133474"/>
              <a:ext cx="1137801" cy="0"/>
            </a:xfrm>
            <a:prstGeom prst="line">
              <a:avLst/>
            </a:prstGeom>
            <a:ln w="49527" cap="flat">
              <a:solidFill>
                <a:srgbClr val="000000"/>
              </a:solidFill>
              <a:prstDash val="solid"/>
              <a:headEnd type="none" w="sm" len="sm"/>
              <a:tailEnd type="triangle" w="lg" len="med"/>
            </a:ln>
          </p:spPr>
          <p:txBody>
            <a:bodyPr/>
            <a:lstStyle/>
            <a:p>
              <a:endParaRPr lang="en-VN"/>
            </a:p>
          </p:txBody>
        </p:sp>
        <p:sp>
          <p:nvSpPr>
            <p:cNvPr id="13" name="AutoShape 13"/>
            <p:cNvSpPr/>
            <p:nvPr/>
          </p:nvSpPr>
          <p:spPr>
            <a:xfrm flipV="1">
              <a:off x="7148420" y="398296"/>
              <a:ext cx="0" cy="1137801"/>
            </a:xfrm>
            <a:prstGeom prst="line">
              <a:avLst/>
            </a:prstGeom>
            <a:ln w="49527" cap="flat">
              <a:solidFill>
                <a:srgbClr val="000000"/>
              </a:solidFill>
              <a:prstDash val="solid"/>
              <a:headEnd type="none" w="sm" len="sm"/>
              <a:tailEnd type="triangle" w="lg" len="med"/>
            </a:ln>
          </p:spPr>
          <p:txBody>
            <a:bodyPr/>
            <a:lstStyle/>
            <a:p>
              <a:endParaRPr lang="en-VN"/>
            </a:p>
          </p:txBody>
        </p:sp>
        <p:sp>
          <p:nvSpPr>
            <p:cNvPr id="14" name="AutoShape 14"/>
            <p:cNvSpPr/>
            <p:nvPr/>
          </p:nvSpPr>
          <p:spPr>
            <a:xfrm>
              <a:off x="13148005" y="5279959"/>
              <a:ext cx="1136886" cy="45601"/>
            </a:xfrm>
            <a:prstGeom prst="line">
              <a:avLst/>
            </a:prstGeom>
            <a:ln w="49527" cap="flat">
              <a:solidFill>
                <a:srgbClr val="000000"/>
              </a:solidFill>
              <a:prstDash val="solid"/>
              <a:headEnd type="none" w="sm" len="sm"/>
              <a:tailEnd type="triangle" w="lg" len="med"/>
            </a:ln>
          </p:spPr>
          <p:txBody>
            <a:bodyPr/>
            <a:lstStyle/>
            <a:p>
              <a:endParaRPr lang="en-VN"/>
            </a:p>
          </p:txBody>
        </p:sp>
        <p:sp>
          <p:nvSpPr>
            <p:cNvPr id="15" name="Freeform 15"/>
            <p:cNvSpPr/>
            <p:nvPr/>
          </p:nvSpPr>
          <p:spPr>
            <a:xfrm>
              <a:off x="0" y="2739622"/>
              <a:ext cx="787704" cy="787704"/>
            </a:xfrm>
            <a:custGeom>
              <a:avLst/>
              <a:gdLst/>
              <a:ahLst/>
              <a:cxnLst/>
              <a:rect l="l" t="t" r="r" b="b"/>
              <a:pathLst>
                <a:path w="787704" h="787704">
                  <a:moveTo>
                    <a:pt x="0" y="0"/>
                  </a:moveTo>
                  <a:lnTo>
                    <a:pt x="787704" y="0"/>
                  </a:lnTo>
                  <a:lnTo>
                    <a:pt x="787704" y="787704"/>
                  </a:lnTo>
                  <a:lnTo>
                    <a:pt x="0" y="7877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6" name="Freeform 16"/>
            <p:cNvSpPr/>
            <p:nvPr/>
          </p:nvSpPr>
          <p:spPr>
            <a:xfrm>
              <a:off x="6816011" y="4444"/>
              <a:ext cx="787704" cy="787704"/>
            </a:xfrm>
            <a:custGeom>
              <a:avLst/>
              <a:gdLst/>
              <a:ahLst/>
              <a:cxnLst/>
              <a:rect l="l" t="t" r="r" b="b"/>
              <a:pathLst>
                <a:path w="787704" h="787704">
                  <a:moveTo>
                    <a:pt x="0" y="0"/>
                  </a:moveTo>
                  <a:lnTo>
                    <a:pt x="787704" y="0"/>
                  </a:lnTo>
                  <a:lnTo>
                    <a:pt x="787704" y="787704"/>
                  </a:lnTo>
                  <a:lnTo>
                    <a:pt x="0" y="78770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17" name="Freeform 17"/>
            <p:cNvSpPr/>
            <p:nvPr/>
          </p:nvSpPr>
          <p:spPr>
            <a:xfrm>
              <a:off x="13891040" y="4886107"/>
              <a:ext cx="787704" cy="787704"/>
            </a:xfrm>
            <a:custGeom>
              <a:avLst/>
              <a:gdLst/>
              <a:ahLst/>
              <a:cxnLst/>
              <a:rect l="l" t="t" r="r" b="b"/>
              <a:pathLst>
                <a:path w="787704" h="787704">
                  <a:moveTo>
                    <a:pt x="0" y="0"/>
                  </a:moveTo>
                  <a:lnTo>
                    <a:pt x="787704" y="0"/>
                  </a:lnTo>
                  <a:lnTo>
                    <a:pt x="787704" y="787704"/>
                  </a:lnTo>
                  <a:lnTo>
                    <a:pt x="0" y="7877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VN"/>
            </a:p>
          </p:txBody>
        </p:sp>
        <p:sp>
          <p:nvSpPr>
            <p:cNvPr id="18" name="Freeform 18"/>
            <p:cNvSpPr/>
            <p:nvPr/>
          </p:nvSpPr>
          <p:spPr>
            <a:xfrm>
              <a:off x="6007761" y="7948999"/>
              <a:ext cx="808250" cy="808250"/>
            </a:xfrm>
            <a:custGeom>
              <a:avLst/>
              <a:gdLst/>
              <a:ahLst/>
              <a:cxnLst/>
              <a:rect l="l" t="t" r="r" b="b"/>
              <a:pathLst>
                <a:path w="808250" h="808250">
                  <a:moveTo>
                    <a:pt x="0" y="0"/>
                  </a:moveTo>
                  <a:lnTo>
                    <a:pt x="808250" y="0"/>
                  </a:lnTo>
                  <a:lnTo>
                    <a:pt x="808250" y="808250"/>
                  </a:lnTo>
                  <a:lnTo>
                    <a:pt x="0" y="80825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VN"/>
            </a:p>
          </p:txBody>
        </p:sp>
        <p:sp>
          <p:nvSpPr>
            <p:cNvPr id="19" name="AutoShape 19"/>
            <p:cNvSpPr/>
            <p:nvPr/>
          </p:nvSpPr>
          <p:spPr>
            <a:xfrm flipH="1">
              <a:off x="2757309" y="5807193"/>
              <a:ext cx="145121" cy="836357"/>
            </a:xfrm>
            <a:prstGeom prst="line">
              <a:avLst/>
            </a:prstGeom>
            <a:ln w="49527" cap="flat">
              <a:solidFill>
                <a:srgbClr val="000000"/>
              </a:solidFill>
              <a:prstDash val="solid"/>
              <a:headEnd type="none" w="sm" len="sm"/>
              <a:tailEnd type="triangle" w="lg" len="med"/>
            </a:ln>
          </p:spPr>
          <p:txBody>
            <a:bodyPr/>
            <a:lstStyle/>
            <a:p>
              <a:endParaRPr lang="en-VN"/>
            </a:p>
          </p:txBody>
        </p:sp>
        <p:sp>
          <p:nvSpPr>
            <p:cNvPr id="20" name="Freeform 20"/>
            <p:cNvSpPr/>
            <p:nvPr/>
          </p:nvSpPr>
          <p:spPr>
            <a:xfrm>
              <a:off x="2339131" y="6330148"/>
              <a:ext cx="836356" cy="836357"/>
            </a:xfrm>
            <a:custGeom>
              <a:avLst/>
              <a:gdLst/>
              <a:ahLst/>
              <a:cxnLst/>
              <a:rect l="l" t="t" r="r" b="b"/>
              <a:pathLst>
                <a:path w="836357" h="836357">
                  <a:moveTo>
                    <a:pt x="0" y="0"/>
                  </a:moveTo>
                  <a:lnTo>
                    <a:pt x="836357" y="0"/>
                  </a:lnTo>
                  <a:lnTo>
                    <a:pt x="836357" y="836357"/>
                  </a:lnTo>
                  <a:lnTo>
                    <a:pt x="0" y="836357"/>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VN"/>
            </a:p>
          </p:txBody>
        </p:sp>
      </p:grpSp>
      <p:grpSp>
        <p:nvGrpSpPr>
          <p:cNvPr id="23" name="Group 7">
            <a:extLst>
              <a:ext uri="{FF2B5EF4-FFF2-40B4-BE49-F238E27FC236}">
                <a16:creationId xmlns:a16="http://schemas.microsoft.com/office/drawing/2014/main" id="{2B26D360-0F0E-335C-C938-C3F1A487F1FD}"/>
              </a:ext>
            </a:extLst>
          </p:cNvPr>
          <p:cNvGrpSpPr/>
          <p:nvPr/>
        </p:nvGrpSpPr>
        <p:grpSpPr>
          <a:xfrm>
            <a:off x="4171106" y="0"/>
            <a:ext cx="9945787" cy="1567627"/>
            <a:chOff x="0" y="-85725"/>
            <a:chExt cx="2619467" cy="412873"/>
          </a:xfrm>
        </p:grpSpPr>
        <p:sp>
          <p:nvSpPr>
            <p:cNvPr id="24" name="Freeform 8">
              <a:extLst>
                <a:ext uri="{FF2B5EF4-FFF2-40B4-BE49-F238E27FC236}">
                  <a16:creationId xmlns:a16="http://schemas.microsoft.com/office/drawing/2014/main" id="{75A11A1D-8800-DEE7-DAA7-850F009325B8}"/>
                </a:ext>
              </a:extLst>
            </p:cNvPr>
            <p:cNvSpPr/>
            <p:nvPr/>
          </p:nvSpPr>
          <p:spPr>
            <a:xfrm>
              <a:off x="0" y="-37117"/>
              <a:ext cx="2619467" cy="250425"/>
            </a:xfrm>
            <a:custGeom>
              <a:avLst/>
              <a:gdLst/>
              <a:ahLst/>
              <a:cxnLst/>
              <a:rect l="l" t="t" r="r" b="b"/>
              <a:pathLst>
                <a:path w="2619467" h="327148">
                  <a:moveTo>
                    <a:pt x="39699" y="0"/>
                  </a:moveTo>
                  <a:lnTo>
                    <a:pt x="2579768" y="0"/>
                  </a:lnTo>
                  <a:cubicBezTo>
                    <a:pt x="2601693" y="0"/>
                    <a:pt x="2619467" y="17774"/>
                    <a:pt x="2619467" y="39699"/>
                  </a:cubicBezTo>
                  <a:lnTo>
                    <a:pt x="2619467" y="287449"/>
                  </a:lnTo>
                  <a:cubicBezTo>
                    <a:pt x="2619467" y="309374"/>
                    <a:pt x="2601693" y="327148"/>
                    <a:pt x="2579768" y="327148"/>
                  </a:cubicBezTo>
                  <a:lnTo>
                    <a:pt x="39699" y="327148"/>
                  </a:lnTo>
                  <a:cubicBezTo>
                    <a:pt x="17774" y="327148"/>
                    <a:pt x="0" y="309374"/>
                    <a:pt x="0" y="287449"/>
                  </a:cubicBezTo>
                  <a:lnTo>
                    <a:pt x="0" y="39699"/>
                  </a:lnTo>
                  <a:cubicBezTo>
                    <a:pt x="0" y="17774"/>
                    <a:pt x="17774" y="0"/>
                    <a:pt x="39699" y="0"/>
                  </a:cubicBezTo>
                  <a:close/>
                </a:path>
              </a:pathLst>
            </a:custGeom>
            <a:gradFill rotWithShape="1">
              <a:gsLst>
                <a:gs pos="0">
                  <a:srgbClr val="8C01BF">
                    <a:alpha val="100000"/>
                  </a:srgbClr>
                </a:gs>
                <a:gs pos="50000">
                  <a:srgbClr val="5C09C5">
                    <a:alpha val="100000"/>
                  </a:srgbClr>
                </a:gs>
                <a:gs pos="100000">
                  <a:srgbClr val="4F03E9">
                    <a:alpha val="100000"/>
                  </a:srgbClr>
                </a:gs>
              </a:gsLst>
              <a:lin ang="0"/>
            </a:gradFill>
          </p:spPr>
          <p:txBody>
            <a:bodyPr/>
            <a:lstStyle/>
            <a:p>
              <a:endParaRPr lang="en-VN"/>
            </a:p>
          </p:txBody>
        </p:sp>
        <p:sp>
          <p:nvSpPr>
            <p:cNvPr id="25" name="TextBox 9">
              <a:extLst>
                <a:ext uri="{FF2B5EF4-FFF2-40B4-BE49-F238E27FC236}">
                  <a16:creationId xmlns:a16="http://schemas.microsoft.com/office/drawing/2014/main" id="{925DC2CE-DF10-8550-699E-D2BDD17481A3}"/>
                </a:ext>
              </a:extLst>
            </p:cNvPr>
            <p:cNvSpPr txBox="1"/>
            <p:nvPr/>
          </p:nvSpPr>
          <p:spPr>
            <a:xfrm>
              <a:off x="0" y="-85725"/>
              <a:ext cx="2619467" cy="412873"/>
            </a:xfrm>
            <a:prstGeom prst="rect">
              <a:avLst/>
            </a:prstGeom>
          </p:spPr>
          <p:txBody>
            <a:bodyPr lIns="50800" tIns="50800" rIns="50800" bIns="50800" rtlCol="0" anchor="ctr"/>
            <a:lstStyle/>
            <a:p>
              <a:pPr algn="ctr">
                <a:lnSpc>
                  <a:spcPts val="6579"/>
                </a:lnSpc>
                <a:spcBef>
                  <a:spcPct val="0"/>
                </a:spcBef>
              </a:pPr>
              <a:r>
                <a:rPr lang="en-US" sz="4699" spc="465" dirty="0">
                  <a:solidFill>
                    <a:srgbClr val="FFFFFF"/>
                  </a:solidFill>
                  <a:latin typeface="Bevan"/>
                  <a:ea typeface="Bevan"/>
                  <a:cs typeface="Bevan"/>
                  <a:sym typeface="Bevan"/>
                </a:rPr>
                <a:t>SƠ ĐỒ VỊ TRÍ</a:t>
              </a:r>
            </a:p>
          </p:txBody>
        </p:sp>
      </p:grpSp>
      <p:sp>
        <p:nvSpPr>
          <p:cNvPr id="3" name="TextBox 2">
            <a:extLst>
              <a:ext uri="{FF2B5EF4-FFF2-40B4-BE49-F238E27FC236}">
                <a16:creationId xmlns:a16="http://schemas.microsoft.com/office/drawing/2014/main" id="{8B0F882F-3A5F-D977-B2CB-C62A864C9191}"/>
              </a:ext>
            </a:extLst>
          </p:cNvPr>
          <p:cNvSpPr txBox="1"/>
          <p:nvPr/>
        </p:nvSpPr>
        <p:spPr>
          <a:xfrm>
            <a:off x="8319294" y="8882573"/>
            <a:ext cx="2018652" cy="646331"/>
          </a:xfrm>
          <a:prstGeom prst="rect">
            <a:avLst/>
          </a:prstGeom>
          <a:noFill/>
        </p:spPr>
        <p:txBody>
          <a:bodyPr wrap="square">
            <a:spAutoFit/>
          </a:bodyPr>
          <a:lstStyle/>
          <a:p>
            <a:pPr>
              <a:buNone/>
            </a:pPr>
            <a:r>
              <a:rPr lang="en-VN" sz="3600" b="1" dirty="0">
                <a:effectLst/>
                <a:latin typeface="Times New Roman" panose="02020603050405020304" pitchFamily="18" charset="0"/>
                <a:cs typeface="Times New Roman" panose="02020603050405020304" pitchFamily="18" charset="0"/>
              </a:rPr>
              <a:t>Công tắc</a:t>
            </a:r>
          </a:p>
        </p:txBody>
      </p:sp>
      <p:sp>
        <p:nvSpPr>
          <p:cNvPr id="6" name="TextBox 5">
            <a:extLst>
              <a:ext uri="{FF2B5EF4-FFF2-40B4-BE49-F238E27FC236}">
                <a16:creationId xmlns:a16="http://schemas.microsoft.com/office/drawing/2014/main" id="{43462CB3-5CF2-71F7-A933-5B1F22C7346F}"/>
              </a:ext>
            </a:extLst>
          </p:cNvPr>
          <p:cNvSpPr txBox="1"/>
          <p:nvPr/>
        </p:nvSpPr>
        <p:spPr>
          <a:xfrm>
            <a:off x="4675524" y="7492830"/>
            <a:ext cx="2261533" cy="1200329"/>
          </a:xfrm>
          <a:prstGeom prst="rect">
            <a:avLst/>
          </a:prstGeom>
          <a:noFill/>
        </p:spPr>
        <p:txBody>
          <a:bodyPr wrap="square">
            <a:spAutoFit/>
          </a:bodyPr>
          <a:lstStyle/>
          <a:p>
            <a:pPr algn="ctr">
              <a:buNone/>
            </a:pPr>
            <a:r>
              <a:rPr lang="en-VN" sz="3600" b="1" dirty="0">
                <a:effectLst/>
                <a:latin typeface="Times New Roman" panose="02020603050405020304" pitchFamily="18" charset="0"/>
                <a:cs typeface="Times New Roman" panose="02020603050405020304" pitchFamily="18" charset="0"/>
              </a:rPr>
              <a:t>Vòng đeo </a:t>
            </a:r>
          </a:p>
          <a:p>
            <a:pPr algn="ctr">
              <a:buNone/>
            </a:pPr>
            <a:r>
              <a:rPr lang="en-VN" sz="3600" b="1" dirty="0">
                <a:effectLst/>
                <a:latin typeface="Times New Roman" panose="02020603050405020304" pitchFamily="18" charset="0"/>
                <a:cs typeface="Times New Roman" panose="02020603050405020304" pitchFamily="18" charset="0"/>
              </a:rPr>
              <a:t>In 3D</a:t>
            </a:r>
          </a:p>
        </p:txBody>
      </p:sp>
      <p:sp>
        <p:nvSpPr>
          <p:cNvPr id="8" name="TextBox 7">
            <a:extLst>
              <a:ext uri="{FF2B5EF4-FFF2-40B4-BE49-F238E27FC236}">
                <a16:creationId xmlns:a16="http://schemas.microsoft.com/office/drawing/2014/main" id="{EC927233-CD34-8724-9A86-3CC5655D4E61}"/>
              </a:ext>
            </a:extLst>
          </p:cNvPr>
          <p:cNvSpPr txBox="1"/>
          <p:nvPr/>
        </p:nvSpPr>
        <p:spPr>
          <a:xfrm>
            <a:off x="13873757" y="6472420"/>
            <a:ext cx="3704154" cy="1200329"/>
          </a:xfrm>
          <a:prstGeom prst="rect">
            <a:avLst/>
          </a:prstGeom>
          <a:noFill/>
        </p:spPr>
        <p:txBody>
          <a:bodyPr wrap="square">
            <a:spAutoFit/>
          </a:bodyPr>
          <a:lstStyle/>
          <a:p>
            <a:pPr algn="ctr">
              <a:buNone/>
            </a:pPr>
            <a:r>
              <a:rPr lang="en-VN" sz="3600" b="1" dirty="0">
                <a:effectLst/>
                <a:latin typeface="Times New Roman" panose="02020603050405020304" pitchFamily="18" charset="0"/>
                <a:cs typeface="Times New Roman" panose="02020603050405020304" pitchFamily="18" charset="0"/>
              </a:rPr>
              <a:t>Loa và mạch xử lí</a:t>
            </a:r>
          </a:p>
          <a:p>
            <a:pPr algn="ctr">
              <a:buNone/>
            </a:pPr>
            <a:r>
              <a:rPr lang="en-VN" sz="3600" b="1" dirty="0">
                <a:effectLst/>
                <a:latin typeface="Times New Roman" panose="02020603050405020304" pitchFamily="18" charset="0"/>
                <a:cs typeface="Times New Roman" panose="02020603050405020304" pitchFamily="18" charset="0"/>
              </a:rPr>
              <a:t> âm thanh</a:t>
            </a:r>
          </a:p>
        </p:txBody>
      </p:sp>
      <p:sp>
        <p:nvSpPr>
          <p:cNvPr id="26" name="TextBox 25">
            <a:extLst>
              <a:ext uri="{FF2B5EF4-FFF2-40B4-BE49-F238E27FC236}">
                <a16:creationId xmlns:a16="http://schemas.microsoft.com/office/drawing/2014/main" id="{6DD0D368-DFE2-585A-5455-35CB607E073B}"/>
              </a:ext>
            </a:extLst>
          </p:cNvPr>
          <p:cNvSpPr txBox="1"/>
          <p:nvPr/>
        </p:nvSpPr>
        <p:spPr>
          <a:xfrm>
            <a:off x="7611464" y="1535002"/>
            <a:ext cx="5190123" cy="646331"/>
          </a:xfrm>
          <a:prstGeom prst="rect">
            <a:avLst/>
          </a:prstGeom>
          <a:noFill/>
        </p:spPr>
        <p:txBody>
          <a:bodyPr wrap="square">
            <a:spAutoFit/>
          </a:bodyPr>
          <a:lstStyle/>
          <a:p>
            <a:pPr>
              <a:buNone/>
            </a:pPr>
            <a:r>
              <a:rPr lang="en-VN" sz="3600" b="1" dirty="0">
                <a:effectLst/>
                <a:latin typeface="Times New Roman" panose="02020603050405020304" pitchFamily="18" charset="0"/>
                <a:cs typeface="Times New Roman" panose="02020603050405020304" pitchFamily="18" charset="0"/>
              </a:rPr>
              <a:t>Raspberry Pi Zero 2W</a:t>
            </a:r>
          </a:p>
        </p:txBody>
      </p:sp>
      <p:sp>
        <p:nvSpPr>
          <p:cNvPr id="28" name="TextBox 27">
            <a:extLst>
              <a:ext uri="{FF2B5EF4-FFF2-40B4-BE49-F238E27FC236}">
                <a16:creationId xmlns:a16="http://schemas.microsoft.com/office/drawing/2014/main" id="{D422E9A5-8EA5-0662-BDDD-25E26464E13B}"/>
              </a:ext>
            </a:extLst>
          </p:cNvPr>
          <p:cNvSpPr txBox="1"/>
          <p:nvPr/>
        </p:nvSpPr>
        <p:spPr>
          <a:xfrm>
            <a:off x="802752" y="3490297"/>
            <a:ext cx="6170906" cy="646331"/>
          </a:xfrm>
          <a:prstGeom prst="rect">
            <a:avLst/>
          </a:prstGeom>
          <a:noFill/>
        </p:spPr>
        <p:txBody>
          <a:bodyPr wrap="square">
            <a:spAutoFit/>
          </a:bodyPr>
          <a:lstStyle/>
          <a:p>
            <a:pPr algn="ctr">
              <a:buNone/>
            </a:pPr>
            <a:r>
              <a:rPr lang="en-VN" sz="3600" b="1" dirty="0">
                <a:effectLst/>
                <a:latin typeface="Times New Roman" panose="02020603050405020304" pitchFamily="18" charset="0"/>
                <a:cs typeface="Times New Roman" panose="02020603050405020304" pitchFamily="18" charset="0"/>
              </a:rPr>
              <a:t>Camera Raspberry Pi CSL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0A52C-F7F8-E333-5A3A-FE287FE32FE4}"/>
            </a:ext>
          </a:extLst>
        </p:cNvPr>
        <p:cNvGrpSpPr/>
        <p:nvPr/>
      </p:nvGrpSpPr>
      <p:grpSpPr>
        <a:xfrm>
          <a:off x="0" y="0"/>
          <a:ext cx="0" cy="0"/>
          <a:chOff x="0" y="0"/>
          <a:chExt cx="0" cy="0"/>
        </a:xfrm>
      </p:grpSpPr>
      <p:sp>
        <p:nvSpPr>
          <p:cNvPr id="2" name="Freeform 6">
            <a:extLst>
              <a:ext uri="{FF2B5EF4-FFF2-40B4-BE49-F238E27FC236}">
                <a16:creationId xmlns:a16="http://schemas.microsoft.com/office/drawing/2014/main" id="{A68A4BF1-DAEE-AA66-92CE-28A372D4D4FE}"/>
              </a:ext>
            </a:extLst>
          </p:cNvPr>
          <p:cNvSpPr/>
          <p:nvPr/>
        </p:nvSpPr>
        <p:spPr>
          <a:xfrm>
            <a:off x="217321" y="-240599"/>
            <a:ext cx="2916262" cy="2916262"/>
          </a:xfrm>
          <a:custGeom>
            <a:avLst/>
            <a:gdLst/>
            <a:ahLst/>
            <a:cxnLst/>
            <a:rect l="l" t="t" r="r" b="b"/>
            <a:pathLst>
              <a:path w="2916262" h="2916262">
                <a:moveTo>
                  <a:pt x="0" y="0"/>
                </a:moveTo>
                <a:lnTo>
                  <a:pt x="2916262" y="0"/>
                </a:lnTo>
                <a:lnTo>
                  <a:pt x="2916262" y="2916262"/>
                </a:lnTo>
                <a:lnTo>
                  <a:pt x="0" y="2916262"/>
                </a:lnTo>
                <a:lnTo>
                  <a:pt x="0" y="0"/>
                </a:lnTo>
                <a:close/>
              </a:path>
            </a:pathLst>
          </a:custGeom>
          <a:blipFill>
            <a:blip r:embed="rId2"/>
            <a:stretch>
              <a:fillRect/>
            </a:stretch>
          </a:blipFill>
        </p:spPr>
        <p:txBody>
          <a:bodyPr/>
          <a:lstStyle/>
          <a:p>
            <a:endParaRPr lang="en-VN"/>
          </a:p>
        </p:txBody>
      </p:sp>
      <p:sp>
        <p:nvSpPr>
          <p:cNvPr id="8" name="Freeform 8">
            <a:extLst>
              <a:ext uri="{FF2B5EF4-FFF2-40B4-BE49-F238E27FC236}">
                <a16:creationId xmlns:a16="http://schemas.microsoft.com/office/drawing/2014/main" id="{14DFCFEC-629E-1E70-2FA6-2E31051F773E}"/>
              </a:ext>
            </a:extLst>
          </p:cNvPr>
          <p:cNvSpPr/>
          <p:nvPr/>
        </p:nvSpPr>
        <p:spPr>
          <a:xfrm>
            <a:off x="4171106" y="184558"/>
            <a:ext cx="13431094" cy="950832"/>
          </a:xfrm>
          <a:custGeom>
            <a:avLst/>
            <a:gdLst/>
            <a:ahLst/>
            <a:cxnLst/>
            <a:rect l="l" t="t" r="r" b="b"/>
            <a:pathLst>
              <a:path w="2619467" h="327148">
                <a:moveTo>
                  <a:pt x="39699" y="0"/>
                </a:moveTo>
                <a:lnTo>
                  <a:pt x="2579768" y="0"/>
                </a:lnTo>
                <a:cubicBezTo>
                  <a:pt x="2601693" y="0"/>
                  <a:pt x="2619467" y="17774"/>
                  <a:pt x="2619467" y="39699"/>
                </a:cubicBezTo>
                <a:lnTo>
                  <a:pt x="2619467" y="287449"/>
                </a:lnTo>
                <a:cubicBezTo>
                  <a:pt x="2619467" y="309374"/>
                  <a:pt x="2601693" y="327148"/>
                  <a:pt x="2579768" y="327148"/>
                </a:cubicBezTo>
                <a:lnTo>
                  <a:pt x="39699" y="327148"/>
                </a:lnTo>
                <a:cubicBezTo>
                  <a:pt x="17774" y="327148"/>
                  <a:pt x="0" y="309374"/>
                  <a:pt x="0" y="287449"/>
                </a:cubicBezTo>
                <a:lnTo>
                  <a:pt x="0" y="39699"/>
                </a:lnTo>
                <a:cubicBezTo>
                  <a:pt x="0" y="17774"/>
                  <a:pt x="17774" y="0"/>
                  <a:pt x="39699" y="0"/>
                </a:cubicBezTo>
                <a:close/>
              </a:path>
            </a:pathLst>
          </a:custGeom>
          <a:solidFill>
            <a:srgbClr val="002060"/>
          </a:solidFill>
        </p:spPr>
        <p:txBody>
          <a:bodyPr anchor="ctr"/>
          <a:lstStyle/>
          <a:p>
            <a:pPr algn="ctr"/>
            <a:r>
              <a:rPr lang="en-US" sz="3600" spc="465" dirty="0">
                <a:solidFill>
                  <a:srgbClr val="FFFFFF"/>
                </a:solidFill>
                <a:latin typeface="Bevan"/>
                <a:ea typeface="Bevan"/>
                <a:cs typeface="Bevan"/>
                <a:sym typeface="Bevan"/>
              </a:rPr>
              <a:t>THUẬT TOÁN CHO PI 2W ZERO</a:t>
            </a:r>
          </a:p>
        </p:txBody>
      </p:sp>
      <p:grpSp>
        <p:nvGrpSpPr>
          <p:cNvPr id="19" name="Group 18">
            <a:extLst>
              <a:ext uri="{FF2B5EF4-FFF2-40B4-BE49-F238E27FC236}">
                <a16:creationId xmlns:a16="http://schemas.microsoft.com/office/drawing/2014/main" id="{35D75D0A-90DC-999E-5879-195475395D38}"/>
              </a:ext>
            </a:extLst>
          </p:cNvPr>
          <p:cNvGrpSpPr/>
          <p:nvPr/>
        </p:nvGrpSpPr>
        <p:grpSpPr>
          <a:xfrm>
            <a:off x="419100" y="2244235"/>
            <a:ext cx="8724900" cy="3204066"/>
            <a:chOff x="419100" y="2244235"/>
            <a:chExt cx="8724900" cy="3204066"/>
          </a:xfrm>
        </p:grpSpPr>
        <p:sp>
          <p:nvSpPr>
            <p:cNvPr id="4" name="TextBox 3">
              <a:extLst>
                <a:ext uri="{FF2B5EF4-FFF2-40B4-BE49-F238E27FC236}">
                  <a16:creationId xmlns:a16="http://schemas.microsoft.com/office/drawing/2014/main" id="{326A5D14-5F0E-66C7-9B27-483BDBEB77B5}"/>
                </a:ext>
              </a:extLst>
            </p:cNvPr>
            <p:cNvSpPr txBox="1"/>
            <p:nvPr/>
          </p:nvSpPr>
          <p:spPr>
            <a:xfrm>
              <a:off x="2381250" y="2522199"/>
              <a:ext cx="4800600" cy="707886"/>
            </a:xfrm>
            <a:prstGeom prst="rect">
              <a:avLst/>
            </a:prstGeom>
            <a:noFill/>
          </p:spPr>
          <p:txBody>
            <a:bodyPr wrap="square">
              <a:spAutoFit/>
            </a:bodyPr>
            <a:lstStyle/>
            <a:p>
              <a:pPr>
                <a:buNone/>
              </a:pPr>
              <a:r>
                <a:rPr lang="en-VN" sz="4000" b="1" dirty="0">
                  <a:solidFill>
                    <a:srgbClr val="002060"/>
                  </a:solidFill>
                  <a:latin typeface="Times New Roman" panose="02020603050405020304" pitchFamily="18" charset="0"/>
                  <a:cs typeface="Times New Roman" panose="02020603050405020304" pitchFamily="18" charset="0"/>
                </a:rPr>
                <a:t>EfficientNet-B0 224</a:t>
              </a:r>
            </a:p>
          </p:txBody>
        </p:sp>
        <p:sp>
          <p:nvSpPr>
            <p:cNvPr id="5" name="Rounded Rectangle 4">
              <a:extLst>
                <a:ext uri="{FF2B5EF4-FFF2-40B4-BE49-F238E27FC236}">
                  <a16:creationId xmlns:a16="http://schemas.microsoft.com/office/drawing/2014/main" id="{2380B9B6-8614-4F10-4D62-B3C73C7AD752}"/>
                </a:ext>
              </a:extLst>
            </p:cNvPr>
            <p:cNvSpPr/>
            <p:nvPr/>
          </p:nvSpPr>
          <p:spPr>
            <a:xfrm>
              <a:off x="419100" y="2244235"/>
              <a:ext cx="8724900" cy="3204066"/>
            </a:xfrm>
            <a:prstGeom prst="roundRect">
              <a:avLst/>
            </a:prstGeom>
            <a:noFill/>
            <a:ln w="57150">
              <a:solidFill>
                <a:srgbClr val="001F6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3A25EBBA-4924-499B-200E-B69DCC4DF849}"/>
                </a:ext>
              </a:extLst>
            </p:cNvPr>
            <p:cNvSpPr txBox="1"/>
            <p:nvPr/>
          </p:nvSpPr>
          <p:spPr>
            <a:xfrm>
              <a:off x="838200" y="3373785"/>
              <a:ext cx="8305800" cy="1754326"/>
            </a:xfrm>
            <a:prstGeom prst="rect">
              <a:avLst/>
            </a:prstGeom>
            <a:noFill/>
          </p:spPr>
          <p:txBody>
            <a:bodyPr wrap="square">
              <a:spAutoFit/>
            </a:bodyPr>
            <a:lstStyle/>
            <a:p>
              <a:pPr>
                <a:buNone/>
              </a:pPr>
              <a:r>
                <a:rPr lang="en-VN" sz="3600" dirty="0">
                  <a:latin typeface="Times New Roman" panose="02020603050405020304" pitchFamily="18" charset="0"/>
                  <a:cs typeface="Times New Roman" panose="02020603050405020304" pitchFamily="18" charset="0"/>
                </a:rPr>
                <a:t>experiment: </a:t>
              </a:r>
              <a:r>
                <a:rPr lang="en-VN" sz="3600" b="1" dirty="0">
                  <a:latin typeface="Times New Roman" panose="02020603050405020304" pitchFamily="18" charset="0"/>
                  <a:cs typeface="Times New Roman" panose="02020603050405020304" pitchFamily="18" charset="0"/>
                </a:rPr>
                <a:t>exp_004_efficientnet_b0_224</a:t>
              </a:r>
            </a:p>
            <a:p>
              <a:pPr>
                <a:buNone/>
              </a:pPr>
              <a:r>
                <a:rPr lang="en-VN" sz="3600" dirty="0">
                  <a:latin typeface="Times New Roman" panose="02020603050405020304" pitchFamily="18" charset="0"/>
                  <a:cs typeface="Times New Roman" panose="02020603050405020304" pitchFamily="18" charset="0"/>
                </a:rPr>
                <a:t>model_name: </a:t>
              </a:r>
              <a:r>
                <a:rPr lang="en-VN" sz="3600" b="1" dirty="0">
                  <a:latin typeface="Times New Roman" panose="02020603050405020304" pitchFamily="18" charset="0"/>
                  <a:cs typeface="Times New Roman" panose="02020603050405020304" pitchFamily="18" charset="0"/>
                </a:rPr>
                <a:t>efficientnet_b0.ra_in1k</a:t>
              </a:r>
            </a:p>
            <a:p>
              <a:pPr>
                <a:buNone/>
              </a:pPr>
              <a:r>
                <a:rPr lang="en-VN" sz="3600" dirty="0">
                  <a:latin typeface="Times New Roman" panose="02020603050405020304" pitchFamily="18" charset="0"/>
                  <a:cs typeface="Times New Roman" panose="02020603050405020304" pitchFamily="18" charset="0"/>
                </a:rPr>
                <a:t>img_size: </a:t>
              </a:r>
              <a:r>
                <a:rPr lang="en-VN" sz="3600" b="1" dirty="0">
                  <a:latin typeface="Times New Roman" panose="02020603050405020304" pitchFamily="18" charset="0"/>
                  <a:cs typeface="Times New Roman" panose="02020603050405020304" pitchFamily="18" charset="0"/>
                </a:rPr>
                <a:t>224</a:t>
              </a:r>
            </a:p>
          </p:txBody>
        </p:sp>
      </p:grpSp>
      <p:sp>
        <p:nvSpPr>
          <p:cNvPr id="13" name="TextBox 12">
            <a:extLst>
              <a:ext uri="{FF2B5EF4-FFF2-40B4-BE49-F238E27FC236}">
                <a16:creationId xmlns:a16="http://schemas.microsoft.com/office/drawing/2014/main" id="{EA06F6C5-350D-67E2-9449-AC9BDFE251D9}"/>
              </a:ext>
            </a:extLst>
          </p:cNvPr>
          <p:cNvSpPr txBox="1"/>
          <p:nvPr/>
        </p:nvSpPr>
        <p:spPr>
          <a:xfrm>
            <a:off x="10439400" y="1485900"/>
            <a:ext cx="6764407" cy="8402300"/>
          </a:xfrm>
          <a:prstGeom prst="rect">
            <a:avLst/>
          </a:prstGeom>
          <a:noFill/>
        </p:spPr>
        <p:txBody>
          <a:bodyPr wrap="square">
            <a:spAutoFit/>
          </a:bodyPr>
          <a:lstStyle/>
          <a:p>
            <a:r>
              <a:rPr lang="en-VN" sz="3600" b="1" dirty="0">
                <a:solidFill>
                  <a:schemeClr val="accent6">
                    <a:lumMod val="50000"/>
                  </a:schemeClr>
                </a:solidFill>
                <a:latin typeface="Times New Roman" panose="02020603050405020304" pitchFamily="18" charset="0"/>
                <a:cs typeface="Times New Roman" panose="02020603050405020304" pitchFamily="18" charset="0"/>
              </a:rPr>
              <a:t>MobileNetV3 Large 224</a:t>
            </a:r>
          </a:p>
          <a:p>
            <a:r>
              <a:rPr lang="en-VN" sz="3600" dirty="0">
                <a:latin typeface="Times New Roman" panose="02020603050405020304" pitchFamily="18" charset="0"/>
                <a:cs typeface="Times New Roman" panose="02020603050405020304" pitchFamily="18" charset="0"/>
              </a:rPr>
              <a:t>val_acc  = 0.934363</a:t>
            </a:r>
          </a:p>
          <a:p>
            <a:r>
              <a:rPr lang="en-VN" sz="3600" dirty="0">
                <a:latin typeface="Times New Roman" panose="02020603050405020304" pitchFamily="18" charset="0"/>
                <a:cs typeface="Times New Roman" panose="02020603050405020304" pitchFamily="18" charset="0"/>
              </a:rPr>
              <a:t>test_acc = 0.916984</a:t>
            </a:r>
          </a:p>
          <a:p>
            <a:endParaRPr lang="en-VN" sz="3600" dirty="0">
              <a:latin typeface="Times New Roman" panose="02020603050405020304" pitchFamily="18" charset="0"/>
              <a:cs typeface="Times New Roman" panose="02020603050405020304" pitchFamily="18" charset="0"/>
            </a:endParaRPr>
          </a:p>
          <a:p>
            <a:r>
              <a:rPr lang="en-VN" sz="3600" b="1" dirty="0">
                <a:solidFill>
                  <a:schemeClr val="tx1">
                    <a:lumMod val="75000"/>
                    <a:lumOff val="25000"/>
                  </a:schemeClr>
                </a:solidFill>
                <a:latin typeface="Times New Roman" panose="02020603050405020304" pitchFamily="18" charset="0"/>
                <a:cs typeface="Times New Roman" panose="02020603050405020304" pitchFamily="18" charset="0"/>
              </a:rPr>
              <a:t>MobileNetV3 Small 224</a:t>
            </a:r>
          </a:p>
          <a:p>
            <a:r>
              <a:rPr lang="en-VN" sz="3600" dirty="0">
                <a:latin typeface="Times New Roman" panose="02020603050405020304" pitchFamily="18" charset="0"/>
                <a:cs typeface="Times New Roman" panose="02020603050405020304" pitchFamily="18" charset="0"/>
              </a:rPr>
              <a:t>val_acc  = 0.919691</a:t>
            </a:r>
          </a:p>
          <a:p>
            <a:r>
              <a:rPr lang="en-VN" sz="3600" dirty="0">
                <a:latin typeface="Times New Roman" panose="02020603050405020304" pitchFamily="18" charset="0"/>
                <a:cs typeface="Times New Roman" panose="02020603050405020304" pitchFamily="18" charset="0"/>
              </a:rPr>
              <a:t>test_acc = 0.899467</a:t>
            </a:r>
          </a:p>
          <a:p>
            <a:endParaRPr lang="en-VN" sz="3600" dirty="0">
              <a:latin typeface="Times New Roman" panose="02020603050405020304" pitchFamily="18" charset="0"/>
              <a:cs typeface="Times New Roman" panose="02020603050405020304" pitchFamily="18" charset="0"/>
            </a:endParaRPr>
          </a:p>
          <a:p>
            <a:r>
              <a:rPr lang="en-VN" sz="3600" b="1" dirty="0">
                <a:solidFill>
                  <a:schemeClr val="tx2">
                    <a:lumMod val="75000"/>
                  </a:schemeClr>
                </a:solidFill>
                <a:latin typeface="Times New Roman" panose="02020603050405020304" pitchFamily="18" charset="0"/>
                <a:cs typeface="Times New Roman" panose="02020603050405020304" pitchFamily="18" charset="0"/>
              </a:rPr>
              <a:t>EfficientNet-Lite0 224</a:t>
            </a:r>
          </a:p>
          <a:p>
            <a:r>
              <a:rPr lang="en-VN" sz="3600" dirty="0">
                <a:latin typeface="Times New Roman" panose="02020603050405020304" pitchFamily="18" charset="0"/>
                <a:cs typeface="Times New Roman" panose="02020603050405020304" pitchFamily="18" charset="0"/>
              </a:rPr>
              <a:t>val_acc  = 0.934363</a:t>
            </a:r>
          </a:p>
          <a:p>
            <a:r>
              <a:rPr lang="en-VN" sz="3600" dirty="0">
                <a:latin typeface="Times New Roman" panose="02020603050405020304" pitchFamily="18" charset="0"/>
                <a:cs typeface="Times New Roman" panose="02020603050405020304" pitchFamily="18" charset="0"/>
              </a:rPr>
              <a:t>test_acc = 0.919269</a:t>
            </a:r>
          </a:p>
          <a:p>
            <a:endParaRPr lang="en-VN" sz="3600" dirty="0">
              <a:latin typeface="Times New Roman" panose="02020603050405020304" pitchFamily="18" charset="0"/>
              <a:cs typeface="Times New Roman" panose="02020603050405020304" pitchFamily="18" charset="0"/>
            </a:endParaRPr>
          </a:p>
          <a:p>
            <a:r>
              <a:rPr lang="en-VN" sz="3600" b="1" dirty="0">
                <a:solidFill>
                  <a:srgbClr val="C00000"/>
                </a:solidFill>
                <a:latin typeface="Times New Roman" panose="02020603050405020304" pitchFamily="18" charset="0"/>
                <a:cs typeface="Times New Roman" panose="02020603050405020304" pitchFamily="18" charset="0"/>
              </a:rPr>
              <a:t>EfficientNet-B0 224</a:t>
            </a:r>
          </a:p>
          <a:p>
            <a:r>
              <a:rPr lang="en-VN" sz="3600" b="1" dirty="0">
                <a:latin typeface="Times New Roman" panose="02020603050405020304" pitchFamily="18" charset="0"/>
                <a:cs typeface="Times New Roman" panose="02020603050405020304" pitchFamily="18" charset="0"/>
              </a:rPr>
              <a:t>val_acc  = 0.945946 </a:t>
            </a:r>
            <a:r>
              <a:rPr lang="en-VN" sz="3600" dirty="0">
                <a:latin typeface="Times New Roman" panose="02020603050405020304" pitchFamily="18" charset="0"/>
                <a:cs typeface="Times New Roman" panose="02020603050405020304" pitchFamily="18" charset="0"/>
              </a:rPr>
              <a:t>← tốt nhất</a:t>
            </a:r>
          </a:p>
          <a:p>
            <a:r>
              <a:rPr lang="en-VN" sz="3600" b="1" dirty="0">
                <a:latin typeface="Times New Roman" panose="02020603050405020304" pitchFamily="18" charset="0"/>
                <a:cs typeface="Times New Roman" panose="02020603050405020304" pitchFamily="18" charset="0"/>
              </a:rPr>
              <a:t>test_acc = 0.931455</a:t>
            </a:r>
          </a:p>
        </p:txBody>
      </p:sp>
      <p:cxnSp>
        <p:nvCxnSpPr>
          <p:cNvPr id="15" name="Straight Arrow Connector 14">
            <a:extLst>
              <a:ext uri="{FF2B5EF4-FFF2-40B4-BE49-F238E27FC236}">
                <a16:creationId xmlns:a16="http://schemas.microsoft.com/office/drawing/2014/main" id="{2FAEF82B-AF90-432C-C6EA-8F5FF3E8A734}"/>
              </a:ext>
            </a:extLst>
          </p:cNvPr>
          <p:cNvCxnSpPr/>
          <p:nvPr/>
        </p:nvCxnSpPr>
        <p:spPr>
          <a:xfrm>
            <a:off x="4781550" y="5448301"/>
            <a:ext cx="0" cy="1219200"/>
          </a:xfrm>
          <a:prstGeom prst="straightConnector1">
            <a:avLst/>
          </a:prstGeom>
          <a:ln w="76200">
            <a:solidFill>
              <a:srgbClr val="002060"/>
            </a:solidFill>
            <a:tailEnd type="triangle"/>
          </a:ln>
        </p:spPr>
        <p:style>
          <a:lnRef idx="1">
            <a:schemeClr val="accent5"/>
          </a:lnRef>
          <a:fillRef idx="0">
            <a:schemeClr val="accent5"/>
          </a:fillRef>
          <a:effectRef idx="0">
            <a:schemeClr val="accent5"/>
          </a:effectRef>
          <a:fontRef idx="minor">
            <a:schemeClr val="tx1"/>
          </a:fontRef>
        </p:style>
      </p:cxnSp>
      <p:grpSp>
        <p:nvGrpSpPr>
          <p:cNvPr id="20" name="Group 19">
            <a:extLst>
              <a:ext uri="{FF2B5EF4-FFF2-40B4-BE49-F238E27FC236}">
                <a16:creationId xmlns:a16="http://schemas.microsoft.com/office/drawing/2014/main" id="{B035100A-A208-D676-04B2-E41548E707C0}"/>
              </a:ext>
            </a:extLst>
          </p:cNvPr>
          <p:cNvGrpSpPr/>
          <p:nvPr/>
        </p:nvGrpSpPr>
        <p:grpSpPr>
          <a:xfrm>
            <a:off x="419100" y="6684134"/>
            <a:ext cx="8820963" cy="3204066"/>
            <a:chOff x="419100" y="6684134"/>
            <a:chExt cx="8820963" cy="3204066"/>
          </a:xfrm>
        </p:grpSpPr>
        <p:sp>
          <p:nvSpPr>
            <p:cNvPr id="16" name="Rounded Rectangle 15">
              <a:extLst>
                <a:ext uri="{FF2B5EF4-FFF2-40B4-BE49-F238E27FC236}">
                  <a16:creationId xmlns:a16="http://schemas.microsoft.com/office/drawing/2014/main" id="{4DEEE4DB-437C-3764-3849-758BE2281296}"/>
                </a:ext>
              </a:extLst>
            </p:cNvPr>
            <p:cNvSpPr/>
            <p:nvPr/>
          </p:nvSpPr>
          <p:spPr>
            <a:xfrm>
              <a:off x="419100" y="6684134"/>
              <a:ext cx="8724900" cy="3204066"/>
            </a:xfrm>
            <a:prstGeom prst="roundRect">
              <a:avLst/>
            </a:prstGeom>
            <a:noFill/>
            <a:ln w="57150">
              <a:solidFill>
                <a:srgbClr val="001F6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TextBox 16">
              <a:extLst>
                <a:ext uri="{FF2B5EF4-FFF2-40B4-BE49-F238E27FC236}">
                  <a16:creationId xmlns:a16="http://schemas.microsoft.com/office/drawing/2014/main" id="{4C05B38F-F23D-BEF9-3D6A-4E682FD5FFA5}"/>
                </a:ext>
              </a:extLst>
            </p:cNvPr>
            <p:cNvSpPr txBox="1"/>
            <p:nvPr/>
          </p:nvSpPr>
          <p:spPr>
            <a:xfrm>
              <a:off x="2381250" y="6987691"/>
              <a:ext cx="4800600" cy="707886"/>
            </a:xfrm>
            <a:prstGeom prst="rect">
              <a:avLst/>
            </a:prstGeom>
            <a:noFill/>
          </p:spPr>
          <p:txBody>
            <a:bodyPr wrap="square">
              <a:spAutoFit/>
            </a:bodyPr>
            <a:lstStyle/>
            <a:p>
              <a:pPr algn="ctr">
                <a:buNone/>
              </a:pPr>
              <a:r>
                <a:rPr lang="en-VN" sz="4000" b="1" dirty="0">
                  <a:solidFill>
                    <a:srgbClr val="002060"/>
                  </a:solidFill>
                  <a:latin typeface="Times New Roman" panose="02020603050405020304" pitchFamily="18" charset="0"/>
                  <a:cs typeface="Times New Roman" panose="02020603050405020304" pitchFamily="18" charset="0"/>
                </a:rPr>
                <a:t>TFLite</a:t>
              </a:r>
            </a:p>
          </p:txBody>
        </p:sp>
        <p:sp>
          <p:nvSpPr>
            <p:cNvPr id="18" name="TextBox 17">
              <a:extLst>
                <a:ext uri="{FF2B5EF4-FFF2-40B4-BE49-F238E27FC236}">
                  <a16:creationId xmlns:a16="http://schemas.microsoft.com/office/drawing/2014/main" id="{8A05A288-1C30-A193-30BE-1A5D107EF8FA}"/>
                </a:ext>
              </a:extLst>
            </p:cNvPr>
            <p:cNvSpPr txBox="1"/>
            <p:nvPr/>
          </p:nvSpPr>
          <p:spPr>
            <a:xfrm>
              <a:off x="934263" y="7630973"/>
              <a:ext cx="8305800" cy="1754326"/>
            </a:xfrm>
            <a:prstGeom prst="rect">
              <a:avLst/>
            </a:prstGeom>
            <a:noFill/>
          </p:spPr>
          <p:txBody>
            <a:bodyPr wrap="square">
              <a:spAutoFit/>
            </a:bodyPr>
            <a:lstStyle/>
            <a:p>
              <a:pPr>
                <a:buNone/>
              </a:pPr>
              <a:r>
                <a:rPr lang="en-VN" sz="3600" dirty="0">
                  <a:latin typeface="Times New Roman" panose="02020603050405020304" pitchFamily="18" charset="0"/>
                  <a:cs typeface="Times New Roman" panose="02020603050405020304" pitchFamily="18" charset="0"/>
                </a:rPr>
                <a:t>Sau khi training xong.</a:t>
              </a:r>
            </a:p>
            <a:p>
              <a:pPr>
                <a:buNone/>
              </a:pPr>
              <a:r>
                <a:rPr lang="en-VN" sz="3600" b="1" dirty="0">
                  <a:latin typeface="Times New Roman" panose="02020603050405020304" pitchFamily="18" charset="0"/>
                  <a:cs typeface="Times New Roman" panose="02020603050405020304" pitchFamily="18" charset="0"/>
                </a:rPr>
                <a:t>Convert sang tflite</a:t>
              </a:r>
              <a:endParaRPr lang="en-VN" sz="3600" dirty="0">
                <a:latin typeface="Times New Roman" panose="02020603050405020304" pitchFamily="18" charset="0"/>
                <a:cs typeface="Times New Roman" panose="02020603050405020304" pitchFamily="18" charset="0"/>
              </a:endParaRPr>
            </a:p>
            <a:p>
              <a:r>
                <a:rPr lang="en-VN" sz="3600" dirty="0">
                  <a:latin typeface="Times New Roman" panose="02020603050405020304" pitchFamily="18" charset="0"/>
                  <a:cs typeface="Times New Roman" panose="02020603050405020304" pitchFamily="18" charset="0"/>
                </a:rPr>
                <a:t>Trên Pi 2W chạy tflite bằng </a:t>
              </a:r>
              <a:r>
                <a:rPr lang="en-VN" sz="3600" b="1" dirty="0"/>
                <a:t>ai-edge-litert</a:t>
              </a:r>
            </a:p>
          </p:txBody>
        </p:sp>
      </p:grpSp>
    </p:spTree>
    <p:extLst>
      <p:ext uri="{BB962C8B-B14F-4D97-AF65-F5344CB8AC3E}">
        <p14:creationId xmlns:p14="http://schemas.microsoft.com/office/powerpoint/2010/main" val="39374021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heckerboard(across)">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500" fill="hold"/>
                                        <p:tgtEl>
                                          <p:spTgt spid="19"/>
                                        </p:tgtEl>
                                        <p:attrNameLst>
                                          <p:attrName>ppt_x</p:attrName>
                                        </p:attrNameLst>
                                      </p:cBhvr>
                                      <p:tavLst>
                                        <p:tav tm="0">
                                          <p:val>
                                            <p:strVal val="0-#ppt_w/2"/>
                                          </p:val>
                                        </p:tav>
                                        <p:tav tm="100000">
                                          <p:val>
                                            <p:strVal val="#ppt_x"/>
                                          </p:val>
                                        </p:tav>
                                      </p:tavLst>
                                    </p:anim>
                                    <p:anim calcmode="lin" valueType="num">
                                      <p:cBhvr additive="base">
                                        <p:cTn id="13"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32"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circle(out)">
                                      <p:cBhvr>
                                        <p:cTn id="18" dur="20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ppt_x"/>
                                          </p:val>
                                        </p:tav>
                                        <p:tav tm="100000">
                                          <p:val>
                                            <p:strVal val="#ppt_x"/>
                                          </p:val>
                                        </p:tav>
                                      </p:tavLst>
                                    </p:anim>
                                    <p:anim calcmode="lin" valueType="num">
                                      <p:cBhvr additive="base">
                                        <p:cTn id="2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C424A-CD26-C6CD-83A6-8DE8FE20CCF1}"/>
            </a:ext>
          </a:extLst>
        </p:cNvPr>
        <p:cNvGrpSpPr/>
        <p:nvPr/>
      </p:nvGrpSpPr>
      <p:grpSpPr>
        <a:xfrm>
          <a:off x="0" y="0"/>
          <a:ext cx="0" cy="0"/>
          <a:chOff x="0" y="0"/>
          <a:chExt cx="0" cy="0"/>
        </a:xfrm>
      </p:grpSpPr>
      <p:sp>
        <p:nvSpPr>
          <p:cNvPr id="2" name="Freeform 6">
            <a:extLst>
              <a:ext uri="{FF2B5EF4-FFF2-40B4-BE49-F238E27FC236}">
                <a16:creationId xmlns:a16="http://schemas.microsoft.com/office/drawing/2014/main" id="{D03729A5-6C38-BD50-8A42-464E1A521581}"/>
              </a:ext>
            </a:extLst>
          </p:cNvPr>
          <p:cNvSpPr/>
          <p:nvPr/>
        </p:nvSpPr>
        <p:spPr>
          <a:xfrm>
            <a:off x="217320" y="-240600"/>
            <a:ext cx="4049879" cy="3021899"/>
          </a:xfrm>
          <a:custGeom>
            <a:avLst/>
            <a:gdLst/>
            <a:ahLst/>
            <a:cxnLst/>
            <a:rect l="l" t="t" r="r" b="b"/>
            <a:pathLst>
              <a:path w="2916262" h="2916262">
                <a:moveTo>
                  <a:pt x="0" y="0"/>
                </a:moveTo>
                <a:lnTo>
                  <a:pt x="2916262" y="0"/>
                </a:lnTo>
                <a:lnTo>
                  <a:pt x="2916262" y="2916262"/>
                </a:lnTo>
                <a:lnTo>
                  <a:pt x="0" y="2916262"/>
                </a:lnTo>
                <a:lnTo>
                  <a:pt x="0" y="0"/>
                </a:lnTo>
                <a:close/>
              </a:path>
            </a:pathLst>
          </a:custGeom>
          <a:blipFill>
            <a:blip r:embed="rId2"/>
            <a:stretch>
              <a:fillRect/>
            </a:stretch>
          </a:blipFill>
        </p:spPr>
        <p:txBody>
          <a:bodyPr/>
          <a:lstStyle/>
          <a:p>
            <a:endParaRPr lang="en-VN"/>
          </a:p>
        </p:txBody>
      </p:sp>
      <p:sp>
        <p:nvSpPr>
          <p:cNvPr id="8" name="Freeform 8">
            <a:extLst>
              <a:ext uri="{FF2B5EF4-FFF2-40B4-BE49-F238E27FC236}">
                <a16:creationId xmlns:a16="http://schemas.microsoft.com/office/drawing/2014/main" id="{E53C6DD1-ED90-83C6-E825-9E8283980708}"/>
              </a:ext>
            </a:extLst>
          </p:cNvPr>
          <p:cNvSpPr/>
          <p:nvPr/>
        </p:nvSpPr>
        <p:spPr>
          <a:xfrm>
            <a:off x="4171106" y="184558"/>
            <a:ext cx="13431094" cy="950832"/>
          </a:xfrm>
          <a:custGeom>
            <a:avLst/>
            <a:gdLst/>
            <a:ahLst/>
            <a:cxnLst/>
            <a:rect l="l" t="t" r="r" b="b"/>
            <a:pathLst>
              <a:path w="2619467" h="327148">
                <a:moveTo>
                  <a:pt x="39699" y="0"/>
                </a:moveTo>
                <a:lnTo>
                  <a:pt x="2579768" y="0"/>
                </a:lnTo>
                <a:cubicBezTo>
                  <a:pt x="2601693" y="0"/>
                  <a:pt x="2619467" y="17774"/>
                  <a:pt x="2619467" y="39699"/>
                </a:cubicBezTo>
                <a:lnTo>
                  <a:pt x="2619467" y="287449"/>
                </a:lnTo>
                <a:cubicBezTo>
                  <a:pt x="2619467" y="309374"/>
                  <a:pt x="2601693" y="327148"/>
                  <a:pt x="2579768" y="327148"/>
                </a:cubicBezTo>
                <a:lnTo>
                  <a:pt x="39699" y="327148"/>
                </a:lnTo>
                <a:cubicBezTo>
                  <a:pt x="17774" y="327148"/>
                  <a:pt x="0" y="309374"/>
                  <a:pt x="0" y="287449"/>
                </a:cubicBezTo>
                <a:lnTo>
                  <a:pt x="0" y="39699"/>
                </a:lnTo>
                <a:cubicBezTo>
                  <a:pt x="0" y="17774"/>
                  <a:pt x="17774" y="0"/>
                  <a:pt x="39699" y="0"/>
                </a:cubicBezTo>
                <a:close/>
              </a:path>
            </a:pathLst>
          </a:custGeom>
          <a:solidFill>
            <a:srgbClr val="002060"/>
          </a:solidFill>
        </p:spPr>
        <p:txBody>
          <a:bodyPr anchor="ctr"/>
          <a:lstStyle/>
          <a:p>
            <a:pPr algn="ctr"/>
            <a:r>
              <a:rPr lang="en-US" sz="3600" spc="465" dirty="0">
                <a:solidFill>
                  <a:srgbClr val="FFFFFF"/>
                </a:solidFill>
                <a:latin typeface="Bevan"/>
                <a:ea typeface="Bevan"/>
                <a:cs typeface="Bevan"/>
                <a:sym typeface="Bevan"/>
              </a:rPr>
              <a:t>ỨNG DỤNG</a:t>
            </a:r>
          </a:p>
        </p:txBody>
      </p:sp>
      <p:sp>
        <p:nvSpPr>
          <p:cNvPr id="3" name="Text 12">
            <a:extLst>
              <a:ext uri="{FF2B5EF4-FFF2-40B4-BE49-F238E27FC236}">
                <a16:creationId xmlns:a16="http://schemas.microsoft.com/office/drawing/2014/main" id="{709990A8-011B-AB43-F39B-4C796D239A73}"/>
              </a:ext>
            </a:extLst>
          </p:cNvPr>
          <p:cNvSpPr/>
          <p:nvPr/>
        </p:nvSpPr>
        <p:spPr>
          <a:xfrm>
            <a:off x="380999" y="3334087"/>
            <a:ext cx="8033953" cy="950832"/>
          </a:xfrm>
          <a:prstGeom prst="rect">
            <a:avLst/>
          </a:prstGeom>
          <a:solidFill>
            <a:schemeClr val="tx2"/>
          </a:solidFill>
          <a:ln>
            <a:solidFill>
              <a:schemeClr val="bg1"/>
            </a:solidFill>
          </a:ln>
        </p:spPr>
        <p:txBody>
          <a:bodyPr wrap="square" lIns="635" tIns="635" rIns="635" bIns="635" rtlCol="0" anchor="ctr">
            <a:normAutofit/>
          </a:bodyPr>
          <a:lstStyle/>
          <a:p>
            <a:pPr marL="0" indent="0" algn="ctr">
              <a:buNone/>
            </a:pPr>
            <a:r>
              <a:rPr lang="en-US" sz="4000" b="1" dirty="0">
                <a:solidFill>
                  <a:schemeClr val="bg1"/>
                </a:solidFill>
                <a:latin typeface="Times New Roman" pitchFamily="34" charset="0"/>
                <a:ea typeface="Times New Roman" pitchFamily="34" charset="-122"/>
                <a:cs typeface="Times New Roman" pitchFamily="34" charset="-120"/>
              </a:rPr>
              <a:t>Phân loại rác sinh hoạt </a:t>
            </a:r>
            <a:r>
              <a:rPr lang="en-US" sz="4000" b="1" dirty="0" err="1">
                <a:solidFill>
                  <a:schemeClr val="bg1"/>
                </a:solidFill>
                <a:latin typeface="Times New Roman" pitchFamily="34" charset="0"/>
                <a:ea typeface="Times New Roman" pitchFamily="34" charset="-122"/>
                <a:cs typeface="Times New Roman" pitchFamily="34" charset="-120"/>
              </a:rPr>
              <a:t>hằng</a:t>
            </a:r>
            <a:r>
              <a:rPr lang="en-US" sz="4000" b="1" dirty="0">
                <a:solidFill>
                  <a:schemeClr val="bg1"/>
                </a:solidFill>
                <a:latin typeface="Times New Roman" pitchFamily="34" charset="0"/>
                <a:ea typeface="Times New Roman" pitchFamily="34" charset="-122"/>
                <a:cs typeface="Times New Roman" pitchFamily="34" charset="-120"/>
              </a:rPr>
              <a:t> </a:t>
            </a:r>
            <a:r>
              <a:rPr lang="en-US" sz="4000" b="1" dirty="0" err="1">
                <a:solidFill>
                  <a:schemeClr val="bg1"/>
                </a:solidFill>
                <a:latin typeface="Times New Roman" pitchFamily="34" charset="0"/>
                <a:ea typeface="Times New Roman" pitchFamily="34" charset="-122"/>
                <a:cs typeface="Times New Roman" pitchFamily="34" charset="-120"/>
              </a:rPr>
              <a:t>ngày</a:t>
            </a:r>
            <a:endParaRPr lang="en-US" sz="4000" b="1" dirty="0">
              <a:solidFill>
                <a:schemeClr val="bg1"/>
              </a:solidFill>
            </a:endParaRPr>
          </a:p>
        </p:txBody>
      </p:sp>
      <p:sp>
        <p:nvSpPr>
          <p:cNvPr id="6" name="Text 15">
            <a:extLst>
              <a:ext uri="{FF2B5EF4-FFF2-40B4-BE49-F238E27FC236}">
                <a16:creationId xmlns:a16="http://schemas.microsoft.com/office/drawing/2014/main" id="{4A05D84B-C6A1-CD63-0F0B-A463743BC1D6}"/>
              </a:ext>
            </a:extLst>
          </p:cNvPr>
          <p:cNvSpPr/>
          <p:nvPr/>
        </p:nvSpPr>
        <p:spPr>
          <a:xfrm>
            <a:off x="331304" y="4594581"/>
            <a:ext cx="8110152" cy="950832"/>
          </a:xfrm>
          <a:prstGeom prst="rect">
            <a:avLst/>
          </a:prstGeom>
          <a:solidFill>
            <a:schemeClr val="accent2"/>
          </a:solidFill>
          <a:ln/>
        </p:spPr>
        <p:txBody>
          <a:bodyPr wrap="square" lIns="635" tIns="635" rIns="635" bIns="635" rtlCol="0" anchor="ctr">
            <a:normAutofit/>
          </a:bodyPr>
          <a:lstStyle/>
          <a:p>
            <a:pPr marL="0" indent="0" algn="ctr">
              <a:buNone/>
            </a:pPr>
            <a:r>
              <a:rPr lang="en-US" sz="4000" b="1" dirty="0" err="1">
                <a:solidFill>
                  <a:schemeClr val="bg1"/>
                </a:solidFill>
                <a:latin typeface="Times New Roman" pitchFamily="34" charset="0"/>
                <a:ea typeface="Times New Roman" pitchFamily="34" charset="-122"/>
                <a:cs typeface="Times New Roman" pitchFamily="34" charset="-120"/>
              </a:rPr>
              <a:t>Tự</a:t>
            </a:r>
            <a:r>
              <a:rPr lang="en-US" sz="4000" b="1" dirty="0">
                <a:solidFill>
                  <a:schemeClr val="bg1"/>
                </a:solidFill>
                <a:latin typeface="Times New Roman" pitchFamily="34" charset="0"/>
                <a:ea typeface="Times New Roman" pitchFamily="34" charset="-122"/>
                <a:cs typeface="Times New Roman" pitchFamily="34" charset="-120"/>
              </a:rPr>
              <a:t> tin, </a:t>
            </a:r>
            <a:r>
              <a:rPr lang="en-US" sz="4000" b="1" dirty="0" err="1">
                <a:solidFill>
                  <a:schemeClr val="bg1"/>
                </a:solidFill>
                <a:latin typeface="Times New Roman" pitchFamily="34" charset="0"/>
                <a:ea typeface="Times New Roman" pitchFamily="34" charset="-122"/>
                <a:cs typeface="Times New Roman" pitchFamily="34" charset="-120"/>
              </a:rPr>
              <a:t>hòa</a:t>
            </a:r>
            <a:r>
              <a:rPr lang="en-US" sz="4000" b="1" dirty="0">
                <a:solidFill>
                  <a:schemeClr val="bg1"/>
                </a:solidFill>
                <a:latin typeface="Times New Roman" pitchFamily="34" charset="0"/>
                <a:ea typeface="Times New Roman" pitchFamily="34" charset="-122"/>
                <a:cs typeface="Times New Roman" pitchFamily="34" charset="-120"/>
              </a:rPr>
              <a:t> </a:t>
            </a:r>
            <a:r>
              <a:rPr lang="en-US" sz="4000" b="1" dirty="0" err="1">
                <a:solidFill>
                  <a:schemeClr val="bg1"/>
                </a:solidFill>
                <a:latin typeface="Times New Roman" pitchFamily="34" charset="0"/>
                <a:ea typeface="Times New Roman" pitchFamily="34" charset="-122"/>
                <a:cs typeface="Times New Roman" pitchFamily="34" charset="-120"/>
              </a:rPr>
              <a:t>nhập</a:t>
            </a:r>
            <a:r>
              <a:rPr lang="en-US" sz="4000" b="1" dirty="0">
                <a:solidFill>
                  <a:schemeClr val="bg1"/>
                </a:solidFill>
                <a:latin typeface="Times New Roman" pitchFamily="34" charset="0"/>
                <a:ea typeface="Times New Roman" pitchFamily="34" charset="-122"/>
                <a:cs typeface="Times New Roman" pitchFamily="34" charset="-120"/>
              </a:rPr>
              <a:t> </a:t>
            </a:r>
            <a:r>
              <a:rPr lang="en-US" sz="4000" b="1" dirty="0" err="1">
                <a:solidFill>
                  <a:schemeClr val="bg1"/>
                </a:solidFill>
                <a:latin typeface="Times New Roman" pitchFamily="34" charset="0"/>
                <a:ea typeface="Times New Roman" pitchFamily="34" charset="-122"/>
                <a:cs typeface="Times New Roman" pitchFamily="34" charset="-120"/>
              </a:rPr>
              <a:t>với</a:t>
            </a:r>
            <a:r>
              <a:rPr lang="en-US" sz="4000" b="1" dirty="0">
                <a:solidFill>
                  <a:schemeClr val="bg1"/>
                </a:solidFill>
                <a:latin typeface="Times New Roman" pitchFamily="34" charset="0"/>
                <a:ea typeface="Times New Roman" pitchFamily="34" charset="-122"/>
                <a:cs typeface="Times New Roman" pitchFamily="34" charset="-120"/>
              </a:rPr>
              <a:t> </a:t>
            </a:r>
            <a:r>
              <a:rPr lang="en-US" sz="4000" b="1" dirty="0" err="1">
                <a:solidFill>
                  <a:schemeClr val="bg1"/>
                </a:solidFill>
                <a:latin typeface="Times New Roman" pitchFamily="34" charset="0"/>
                <a:ea typeface="Times New Roman" pitchFamily="34" charset="-122"/>
                <a:cs typeface="Times New Roman" pitchFamily="34" charset="-120"/>
              </a:rPr>
              <a:t>cộng</a:t>
            </a:r>
            <a:r>
              <a:rPr lang="en-US" sz="4000" b="1" dirty="0">
                <a:solidFill>
                  <a:schemeClr val="bg1"/>
                </a:solidFill>
                <a:latin typeface="Times New Roman" pitchFamily="34" charset="0"/>
                <a:ea typeface="Times New Roman" pitchFamily="34" charset="-122"/>
                <a:cs typeface="Times New Roman" pitchFamily="34" charset="-120"/>
              </a:rPr>
              <a:t> </a:t>
            </a:r>
            <a:r>
              <a:rPr lang="en-US" sz="4000" b="1" dirty="0" err="1">
                <a:solidFill>
                  <a:schemeClr val="bg1"/>
                </a:solidFill>
                <a:latin typeface="Times New Roman" pitchFamily="34" charset="0"/>
                <a:ea typeface="Times New Roman" pitchFamily="34" charset="-122"/>
                <a:cs typeface="Times New Roman" pitchFamily="34" charset="-120"/>
              </a:rPr>
              <a:t>đồng</a:t>
            </a:r>
            <a:endParaRPr lang="en-US" sz="4000" b="1" dirty="0">
              <a:solidFill>
                <a:schemeClr val="bg1"/>
              </a:solidFill>
            </a:endParaRPr>
          </a:p>
        </p:txBody>
      </p:sp>
      <p:sp>
        <p:nvSpPr>
          <p:cNvPr id="7" name="Text 18">
            <a:extLst>
              <a:ext uri="{FF2B5EF4-FFF2-40B4-BE49-F238E27FC236}">
                <a16:creationId xmlns:a16="http://schemas.microsoft.com/office/drawing/2014/main" id="{B29988FF-863F-ADE7-80A9-16B66AA3B5CB}"/>
              </a:ext>
            </a:extLst>
          </p:cNvPr>
          <p:cNvSpPr/>
          <p:nvPr/>
        </p:nvSpPr>
        <p:spPr>
          <a:xfrm>
            <a:off x="304800" y="5856732"/>
            <a:ext cx="8110152" cy="1572768"/>
          </a:xfrm>
          <a:prstGeom prst="rect">
            <a:avLst/>
          </a:prstGeom>
          <a:solidFill>
            <a:srgbClr val="0070C0"/>
          </a:solidFill>
          <a:ln/>
        </p:spPr>
        <p:txBody>
          <a:bodyPr wrap="square" lIns="635" tIns="635" rIns="635" bIns="635" rtlCol="0" anchor="ctr">
            <a:normAutofit/>
          </a:bodyPr>
          <a:lstStyle/>
          <a:p>
            <a:pPr marL="0" indent="0" algn="ctr">
              <a:buNone/>
            </a:pPr>
            <a:r>
              <a:rPr lang="en-US" sz="4000" b="1" dirty="0" err="1">
                <a:solidFill>
                  <a:schemeClr val="bg1"/>
                </a:solidFill>
                <a:latin typeface="Times New Roman" pitchFamily="34" charset="0"/>
                <a:ea typeface="Times New Roman" pitchFamily="34" charset="-122"/>
                <a:cs typeface="Times New Roman" pitchFamily="34" charset="-120"/>
              </a:rPr>
              <a:t>Tự</a:t>
            </a:r>
            <a:r>
              <a:rPr lang="en-US" sz="4000" b="1" dirty="0">
                <a:solidFill>
                  <a:schemeClr val="bg1"/>
                </a:solidFill>
                <a:latin typeface="Times New Roman" pitchFamily="34" charset="0"/>
                <a:ea typeface="Times New Roman" pitchFamily="34" charset="-122"/>
                <a:cs typeface="Times New Roman" pitchFamily="34" charset="-120"/>
              </a:rPr>
              <a:t> tin </a:t>
            </a:r>
            <a:r>
              <a:rPr lang="en-US" sz="4000" b="1" dirty="0" err="1">
                <a:solidFill>
                  <a:schemeClr val="bg1"/>
                </a:solidFill>
                <a:latin typeface="Times New Roman" pitchFamily="34" charset="0"/>
                <a:ea typeface="Times New Roman" pitchFamily="34" charset="-122"/>
                <a:cs typeface="Times New Roman" pitchFamily="34" charset="-120"/>
              </a:rPr>
              <a:t>tham</a:t>
            </a:r>
            <a:r>
              <a:rPr lang="en-US" sz="4000" b="1" dirty="0">
                <a:solidFill>
                  <a:schemeClr val="bg1"/>
                </a:solidFill>
                <a:latin typeface="Times New Roman" pitchFamily="34" charset="0"/>
                <a:ea typeface="Times New Roman" pitchFamily="34" charset="-122"/>
                <a:cs typeface="Times New Roman" pitchFamily="34" charset="-120"/>
              </a:rPr>
              <a:t> </a:t>
            </a:r>
            <a:r>
              <a:rPr lang="en-US" sz="4000" b="1" dirty="0" err="1">
                <a:solidFill>
                  <a:schemeClr val="bg1"/>
                </a:solidFill>
                <a:latin typeface="Times New Roman" pitchFamily="34" charset="0"/>
                <a:ea typeface="Times New Roman" pitchFamily="34" charset="-122"/>
                <a:cs typeface="Times New Roman" pitchFamily="34" charset="-120"/>
              </a:rPr>
              <a:t>gia</a:t>
            </a:r>
            <a:r>
              <a:rPr lang="en-US" sz="4000" b="1" dirty="0">
                <a:solidFill>
                  <a:schemeClr val="bg1"/>
                </a:solidFill>
                <a:latin typeface="Times New Roman" pitchFamily="34" charset="0"/>
                <a:ea typeface="Times New Roman" pitchFamily="34" charset="-122"/>
                <a:cs typeface="Times New Roman" pitchFamily="34" charset="-120"/>
              </a:rPr>
              <a:t> </a:t>
            </a:r>
            <a:r>
              <a:rPr lang="en-US" sz="4000" b="1" dirty="0" err="1">
                <a:solidFill>
                  <a:schemeClr val="bg1"/>
                </a:solidFill>
                <a:latin typeface="Times New Roman" pitchFamily="34" charset="0"/>
                <a:ea typeface="Times New Roman" pitchFamily="34" charset="-122"/>
                <a:cs typeface="Times New Roman" pitchFamily="34" charset="-120"/>
              </a:rPr>
              <a:t>một</a:t>
            </a:r>
            <a:r>
              <a:rPr lang="en-US" sz="4000" b="1" dirty="0">
                <a:solidFill>
                  <a:schemeClr val="bg1"/>
                </a:solidFill>
                <a:latin typeface="Times New Roman" pitchFamily="34" charset="0"/>
                <a:ea typeface="Times New Roman" pitchFamily="34" charset="-122"/>
                <a:cs typeface="Times New Roman" pitchFamily="34" charset="-120"/>
              </a:rPr>
              <a:t> </a:t>
            </a:r>
            <a:r>
              <a:rPr lang="en-US" sz="4000" b="1" dirty="0" err="1">
                <a:solidFill>
                  <a:schemeClr val="bg1"/>
                </a:solidFill>
                <a:latin typeface="Times New Roman" pitchFamily="34" charset="0"/>
                <a:ea typeface="Times New Roman" pitchFamily="34" charset="-122"/>
                <a:cs typeface="Times New Roman" pitchFamily="34" charset="-120"/>
              </a:rPr>
              <a:t>số</a:t>
            </a:r>
            <a:r>
              <a:rPr lang="en-US" sz="4000" b="1" dirty="0">
                <a:solidFill>
                  <a:schemeClr val="bg1"/>
                </a:solidFill>
                <a:latin typeface="Times New Roman" pitchFamily="34" charset="0"/>
                <a:ea typeface="Times New Roman" pitchFamily="34" charset="-122"/>
                <a:cs typeface="Times New Roman" pitchFamily="34" charset="-120"/>
              </a:rPr>
              <a:t> </a:t>
            </a:r>
            <a:r>
              <a:rPr lang="en-US" sz="4000" b="1" dirty="0" err="1">
                <a:solidFill>
                  <a:schemeClr val="bg1"/>
                </a:solidFill>
                <a:latin typeface="Times New Roman" pitchFamily="34" charset="0"/>
                <a:ea typeface="Times New Roman" pitchFamily="34" charset="-122"/>
                <a:cs typeface="Times New Roman" pitchFamily="34" charset="-120"/>
              </a:rPr>
              <a:t>hoạt</a:t>
            </a:r>
            <a:r>
              <a:rPr lang="en-US" sz="4000" b="1" dirty="0">
                <a:solidFill>
                  <a:schemeClr val="bg1"/>
                </a:solidFill>
                <a:latin typeface="Times New Roman" pitchFamily="34" charset="0"/>
                <a:ea typeface="Times New Roman" pitchFamily="34" charset="-122"/>
                <a:cs typeface="Times New Roman" pitchFamily="34" charset="-120"/>
              </a:rPr>
              <a:t> </a:t>
            </a:r>
            <a:r>
              <a:rPr lang="en-US" sz="4000" b="1" dirty="0" err="1">
                <a:solidFill>
                  <a:schemeClr val="bg1"/>
                </a:solidFill>
                <a:latin typeface="Times New Roman" pitchFamily="34" charset="0"/>
                <a:ea typeface="Times New Roman" pitchFamily="34" charset="-122"/>
                <a:cs typeface="Times New Roman" pitchFamily="34" charset="-120"/>
              </a:rPr>
              <a:t>động</a:t>
            </a:r>
            <a:r>
              <a:rPr lang="en-US" sz="4000" b="1" dirty="0">
                <a:solidFill>
                  <a:schemeClr val="bg1"/>
                </a:solidFill>
                <a:latin typeface="Times New Roman" pitchFamily="34" charset="0"/>
                <a:ea typeface="Times New Roman" pitchFamily="34" charset="-122"/>
                <a:cs typeface="Times New Roman" pitchFamily="34" charset="-120"/>
              </a:rPr>
              <a:t> </a:t>
            </a:r>
            <a:r>
              <a:rPr lang="en-US" sz="4000" b="1" dirty="0" err="1">
                <a:solidFill>
                  <a:schemeClr val="bg1"/>
                </a:solidFill>
                <a:latin typeface="Times New Roman" pitchFamily="34" charset="0"/>
                <a:ea typeface="Times New Roman" pitchFamily="34" charset="-122"/>
                <a:cs typeface="Times New Roman" pitchFamily="34" charset="-120"/>
              </a:rPr>
              <a:t>hoặc</a:t>
            </a:r>
            <a:r>
              <a:rPr lang="en-US" sz="4000" b="1" dirty="0">
                <a:solidFill>
                  <a:schemeClr val="bg1"/>
                </a:solidFill>
                <a:latin typeface="Times New Roman" pitchFamily="34" charset="0"/>
                <a:ea typeface="Times New Roman" pitchFamily="34" charset="-122"/>
                <a:cs typeface="Times New Roman" pitchFamily="34" charset="-120"/>
              </a:rPr>
              <a:t> sự kiện </a:t>
            </a:r>
            <a:r>
              <a:rPr lang="en-US" sz="4000" b="1" dirty="0" err="1">
                <a:solidFill>
                  <a:schemeClr val="bg1"/>
                </a:solidFill>
                <a:latin typeface="Times New Roman" pitchFamily="34" charset="0"/>
                <a:ea typeface="Times New Roman" pitchFamily="34" charset="-122"/>
                <a:cs typeface="Times New Roman" pitchFamily="34" charset="-120"/>
              </a:rPr>
              <a:t>môi</a:t>
            </a:r>
            <a:r>
              <a:rPr lang="en-US" sz="4000" b="1" dirty="0">
                <a:solidFill>
                  <a:schemeClr val="bg1"/>
                </a:solidFill>
                <a:latin typeface="Times New Roman" pitchFamily="34" charset="0"/>
                <a:ea typeface="Times New Roman" pitchFamily="34" charset="-122"/>
                <a:cs typeface="Times New Roman" pitchFamily="34" charset="-120"/>
              </a:rPr>
              <a:t> </a:t>
            </a:r>
            <a:r>
              <a:rPr lang="en-US" sz="4000" b="1" dirty="0" err="1">
                <a:solidFill>
                  <a:schemeClr val="bg1"/>
                </a:solidFill>
                <a:latin typeface="Times New Roman" pitchFamily="34" charset="0"/>
                <a:ea typeface="Times New Roman" pitchFamily="34" charset="-122"/>
                <a:cs typeface="Times New Roman" pitchFamily="34" charset="-120"/>
              </a:rPr>
              <a:t>trường</a:t>
            </a:r>
            <a:endParaRPr lang="en-US" sz="4000" b="1" dirty="0">
              <a:solidFill>
                <a:schemeClr val="bg1"/>
              </a:solidFill>
            </a:endParaRPr>
          </a:p>
        </p:txBody>
      </p:sp>
      <p:pic>
        <p:nvPicPr>
          <p:cNvPr id="5" name="Picture 4">
            <a:extLst>
              <a:ext uri="{FF2B5EF4-FFF2-40B4-BE49-F238E27FC236}">
                <a16:creationId xmlns:a16="http://schemas.microsoft.com/office/drawing/2014/main" id="{201E8862-18F9-35B4-8A6B-E3373C3589B6}"/>
              </a:ext>
            </a:extLst>
          </p:cNvPr>
          <p:cNvPicPr>
            <a:picLocks noChangeAspect="1"/>
          </p:cNvPicPr>
          <p:nvPr/>
        </p:nvPicPr>
        <p:blipFill>
          <a:blip r:embed="rId3"/>
          <a:stretch>
            <a:fillRect/>
          </a:stretch>
        </p:blipFill>
        <p:spPr>
          <a:xfrm>
            <a:off x="8824835" y="1592010"/>
            <a:ext cx="9389379" cy="858069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630970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6">
            <a:extLst>
              <a:ext uri="{FF2B5EF4-FFF2-40B4-BE49-F238E27FC236}">
                <a16:creationId xmlns:a16="http://schemas.microsoft.com/office/drawing/2014/main" id="{0515FD68-1CCA-E561-EDBB-8C5638161DBD}"/>
              </a:ext>
            </a:extLst>
          </p:cNvPr>
          <p:cNvSpPr/>
          <p:nvPr/>
        </p:nvSpPr>
        <p:spPr>
          <a:xfrm>
            <a:off x="-146429" y="-133879"/>
            <a:ext cx="2916262" cy="2916262"/>
          </a:xfrm>
          <a:custGeom>
            <a:avLst/>
            <a:gdLst/>
            <a:ahLst/>
            <a:cxnLst/>
            <a:rect l="l" t="t" r="r" b="b"/>
            <a:pathLst>
              <a:path w="2916262" h="2916262">
                <a:moveTo>
                  <a:pt x="0" y="0"/>
                </a:moveTo>
                <a:lnTo>
                  <a:pt x="2916262" y="0"/>
                </a:lnTo>
                <a:lnTo>
                  <a:pt x="2916262" y="2916262"/>
                </a:lnTo>
                <a:lnTo>
                  <a:pt x="0" y="2916262"/>
                </a:lnTo>
                <a:lnTo>
                  <a:pt x="0" y="0"/>
                </a:lnTo>
                <a:close/>
              </a:path>
            </a:pathLst>
          </a:custGeom>
          <a:blipFill>
            <a:blip r:embed="rId2"/>
            <a:stretch>
              <a:fillRect/>
            </a:stretch>
          </a:blipFill>
        </p:spPr>
        <p:txBody>
          <a:bodyPr/>
          <a:lstStyle/>
          <a:p>
            <a:endParaRPr lang="en-VN"/>
          </a:p>
        </p:txBody>
      </p:sp>
      <p:sp>
        <p:nvSpPr>
          <p:cNvPr id="3" name="Text 7">
            <a:extLst>
              <a:ext uri="{FF2B5EF4-FFF2-40B4-BE49-F238E27FC236}">
                <a16:creationId xmlns:a16="http://schemas.microsoft.com/office/drawing/2014/main" id="{3E0AAD42-1D8E-003C-9EC4-5DBC92152335}"/>
              </a:ext>
            </a:extLst>
          </p:cNvPr>
          <p:cNvSpPr/>
          <p:nvPr/>
        </p:nvSpPr>
        <p:spPr>
          <a:xfrm>
            <a:off x="1600200" y="-171868"/>
            <a:ext cx="16687800" cy="1676400"/>
          </a:xfrm>
          <a:prstGeom prst="rect">
            <a:avLst/>
          </a:prstGeom>
          <a:noFill/>
          <a:ln/>
        </p:spPr>
        <p:txBody>
          <a:bodyPr wrap="square" lIns="635" tIns="635" rIns="635" bIns="635" rtlCol="0" anchor="ctr">
            <a:normAutofit/>
          </a:bodyPr>
          <a:lstStyle/>
          <a:p>
            <a:pPr marL="0" indent="0" algn="l">
              <a:buNone/>
            </a:pPr>
            <a:r>
              <a:rPr lang="en-US" sz="5400" b="1" dirty="0">
                <a:solidFill>
                  <a:srgbClr val="C00000"/>
                </a:solidFill>
                <a:latin typeface="Times New Roman" pitchFamily="34" charset="0"/>
                <a:ea typeface="Times New Roman" pitchFamily="34" charset="-122"/>
                <a:cs typeface="Times New Roman" pitchFamily="34" charset="-120"/>
              </a:rPr>
              <a:t>HIỆU QUẢ NHẬN DIỆN VÀ PHÂN LOẠI RÁC THẢI</a:t>
            </a:r>
            <a:endParaRPr lang="en-US" sz="5400" dirty="0">
              <a:solidFill>
                <a:srgbClr val="C00000"/>
              </a:solidFill>
            </a:endParaRPr>
          </a:p>
        </p:txBody>
      </p:sp>
      <p:grpSp>
        <p:nvGrpSpPr>
          <p:cNvPr id="13" name="Group 12">
            <a:extLst>
              <a:ext uri="{FF2B5EF4-FFF2-40B4-BE49-F238E27FC236}">
                <a16:creationId xmlns:a16="http://schemas.microsoft.com/office/drawing/2014/main" id="{200FDBF1-8C8A-C0A1-A9B4-87513C53A941}"/>
              </a:ext>
            </a:extLst>
          </p:cNvPr>
          <p:cNvGrpSpPr/>
          <p:nvPr/>
        </p:nvGrpSpPr>
        <p:grpSpPr>
          <a:xfrm>
            <a:off x="453914" y="2617929"/>
            <a:ext cx="4683491" cy="2075290"/>
            <a:chOff x="941832" y="1948070"/>
            <a:chExt cx="4683491" cy="2075290"/>
          </a:xfrm>
        </p:grpSpPr>
        <p:sp>
          <p:nvSpPr>
            <p:cNvPr id="6" name="Shape 10">
              <a:extLst>
                <a:ext uri="{FF2B5EF4-FFF2-40B4-BE49-F238E27FC236}">
                  <a16:creationId xmlns:a16="http://schemas.microsoft.com/office/drawing/2014/main" id="{CFBF0BBE-62CD-719D-0023-70D591579A27}"/>
                </a:ext>
              </a:extLst>
            </p:cNvPr>
            <p:cNvSpPr/>
            <p:nvPr/>
          </p:nvSpPr>
          <p:spPr>
            <a:xfrm>
              <a:off x="1478450" y="1948070"/>
              <a:ext cx="3639450" cy="1851660"/>
            </a:xfrm>
            <a:prstGeom prst="roundRect">
              <a:avLst>
                <a:gd name="adj" fmla="val 5000"/>
              </a:avLst>
            </a:prstGeom>
            <a:solidFill>
              <a:srgbClr val="FFFFFF"/>
            </a:solidFill>
            <a:ln w="76200">
              <a:solidFill>
                <a:srgbClr val="A7D8F0"/>
              </a:solidFill>
              <a:prstDash val="solid"/>
            </a:ln>
          </p:spPr>
          <p:txBody>
            <a:bodyPr/>
            <a:lstStyle/>
            <a:p>
              <a:endParaRPr lang="en-VN"/>
            </a:p>
          </p:txBody>
        </p:sp>
        <p:sp>
          <p:nvSpPr>
            <p:cNvPr id="7" name="Text 11">
              <a:extLst>
                <a:ext uri="{FF2B5EF4-FFF2-40B4-BE49-F238E27FC236}">
                  <a16:creationId xmlns:a16="http://schemas.microsoft.com/office/drawing/2014/main" id="{4FDCF77B-881E-00EF-E122-34A0D65D11D9}"/>
                </a:ext>
              </a:extLst>
            </p:cNvPr>
            <p:cNvSpPr/>
            <p:nvPr/>
          </p:nvSpPr>
          <p:spPr>
            <a:xfrm>
              <a:off x="971027" y="2255693"/>
              <a:ext cx="4654296" cy="502920"/>
            </a:xfrm>
            <a:prstGeom prst="rect">
              <a:avLst/>
            </a:prstGeom>
            <a:noFill/>
            <a:ln/>
          </p:spPr>
          <p:txBody>
            <a:bodyPr wrap="square" lIns="635" tIns="635" rIns="635" bIns="635" rtlCol="0" anchor="ctr">
              <a:noAutofit/>
            </a:bodyPr>
            <a:lstStyle/>
            <a:p>
              <a:pPr marL="0" indent="0" algn="ctr">
                <a:buNone/>
              </a:pPr>
              <a:r>
                <a:rPr lang="en-US" sz="4000" b="1" dirty="0">
                  <a:solidFill>
                    <a:srgbClr val="0E7490"/>
                  </a:solidFill>
                  <a:latin typeface="Times New Roman" pitchFamily="34" charset="0"/>
                  <a:ea typeface="Times New Roman" pitchFamily="34" charset="-122"/>
                  <a:cs typeface="Times New Roman" pitchFamily="34" charset="-120"/>
                </a:rPr>
                <a:t>THỜI GIAN</a:t>
              </a:r>
              <a:endParaRPr lang="en-US" sz="4000" dirty="0"/>
            </a:p>
          </p:txBody>
        </p:sp>
        <p:sp>
          <p:nvSpPr>
            <p:cNvPr id="8" name="Text 12">
              <a:extLst>
                <a:ext uri="{FF2B5EF4-FFF2-40B4-BE49-F238E27FC236}">
                  <a16:creationId xmlns:a16="http://schemas.microsoft.com/office/drawing/2014/main" id="{271E1964-3D89-A15E-97EE-27003936762F}"/>
                </a:ext>
              </a:extLst>
            </p:cNvPr>
            <p:cNvSpPr/>
            <p:nvPr/>
          </p:nvSpPr>
          <p:spPr>
            <a:xfrm>
              <a:off x="941832" y="2542032"/>
              <a:ext cx="4654296" cy="1481328"/>
            </a:xfrm>
            <a:prstGeom prst="rect">
              <a:avLst/>
            </a:prstGeom>
            <a:noFill/>
            <a:ln/>
          </p:spPr>
          <p:txBody>
            <a:bodyPr wrap="square" lIns="635" tIns="635" rIns="635" bIns="635" rtlCol="0" anchor="ctr">
              <a:normAutofit/>
            </a:bodyPr>
            <a:lstStyle/>
            <a:p>
              <a:pPr marL="0" indent="0" algn="ctr">
                <a:buNone/>
              </a:pPr>
              <a:r>
                <a:rPr lang="en-US" sz="5400" b="1" dirty="0">
                  <a:solidFill>
                    <a:srgbClr val="06344A"/>
                  </a:solidFill>
                  <a:latin typeface="Times New Roman" pitchFamily="34" charset="0"/>
                  <a:ea typeface="Times New Roman" pitchFamily="34" charset="-122"/>
                  <a:cs typeface="Times New Roman" pitchFamily="34" charset="-120"/>
                </a:rPr>
                <a:t>45s → 6s</a:t>
              </a:r>
              <a:endParaRPr lang="en-US" sz="5400" b="1" dirty="0"/>
            </a:p>
          </p:txBody>
        </p:sp>
      </p:grpSp>
      <p:grpSp>
        <p:nvGrpSpPr>
          <p:cNvPr id="12" name="Group 11">
            <a:extLst>
              <a:ext uri="{FF2B5EF4-FFF2-40B4-BE49-F238E27FC236}">
                <a16:creationId xmlns:a16="http://schemas.microsoft.com/office/drawing/2014/main" id="{F30B1F66-B7EA-B477-F5B1-2882D1E1D04B}"/>
              </a:ext>
            </a:extLst>
          </p:cNvPr>
          <p:cNvGrpSpPr/>
          <p:nvPr/>
        </p:nvGrpSpPr>
        <p:grpSpPr>
          <a:xfrm>
            <a:off x="404191" y="5376891"/>
            <a:ext cx="5011050" cy="2103120"/>
            <a:chOff x="8045195" y="1920240"/>
            <a:chExt cx="5011050" cy="2103120"/>
          </a:xfrm>
        </p:grpSpPr>
        <p:sp>
          <p:nvSpPr>
            <p:cNvPr id="9" name="Shape 13">
              <a:extLst>
                <a:ext uri="{FF2B5EF4-FFF2-40B4-BE49-F238E27FC236}">
                  <a16:creationId xmlns:a16="http://schemas.microsoft.com/office/drawing/2014/main" id="{E0B07EDA-50CD-988D-AA2C-E0E3919B944D}"/>
                </a:ext>
              </a:extLst>
            </p:cNvPr>
            <p:cNvSpPr/>
            <p:nvPr/>
          </p:nvSpPr>
          <p:spPr>
            <a:xfrm>
              <a:off x="8229600" y="1920240"/>
              <a:ext cx="4572000" cy="2103120"/>
            </a:xfrm>
            <a:prstGeom prst="roundRect">
              <a:avLst>
                <a:gd name="adj" fmla="val 5000"/>
              </a:avLst>
            </a:prstGeom>
            <a:solidFill>
              <a:srgbClr val="FFFFFF"/>
            </a:solidFill>
            <a:ln w="76200">
              <a:solidFill>
                <a:srgbClr val="A7D8F0"/>
              </a:solidFill>
              <a:prstDash val="solid"/>
            </a:ln>
          </p:spPr>
          <p:txBody>
            <a:bodyPr/>
            <a:lstStyle/>
            <a:p>
              <a:endParaRPr lang="en-VN" sz="4000">
                <a:latin typeface="Times New Roman" panose="02020603050405020304" pitchFamily="18" charset="0"/>
                <a:cs typeface="Times New Roman" panose="02020603050405020304" pitchFamily="18" charset="0"/>
              </a:endParaRPr>
            </a:p>
          </p:txBody>
        </p:sp>
        <p:sp>
          <p:nvSpPr>
            <p:cNvPr id="10" name="Text 14">
              <a:extLst>
                <a:ext uri="{FF2B5EF4-FFF2-40B4-BE49-F238E27FC236}">
                  <a16:creationId xmlns:a16="http://schemas.microsoft.com/office/drawing/2014/main" id="{892714BD-D818-4C02-B058-515587D72A40}"/>
                </a:ext>
              </a:extLst>
            </p:cNvPr>
            <p:cNvSpPr/>
            <p:nvPr/>
          </p:nvSpPr>
          <p:spPr>
            <a:xfrm>
              <a:off x="8229600" y="2029967"/>
              <a:ext cx="4572000" cy="1175227"/>
            </a:xfrm>
            <a:prstGeom prst="rect">
              <a:avLst/>
            </a:prstGeom>
            <a:noFill/>
            <a:ln/>
          </p:spPr>
          <p:txBody>
            <a:bodyPr wrap="square" lIns="635" tIns="635" rIns="635" bIns="635" rtlCol="0" anchor="ctr">
              <a:noAutofit/>
            </a:bodyPr>
            <a:lstStyle/>
            <a:p>
              <a:pPr marL="0" indent="0" algn="ctr">
                <a:buNone/>
              </a:pPr>
              <a:r>
                <a:rPr lang="en-US" sz="4000" b="1" dirty="0">
                  <a:solidFill>
                    <a:srgbClr val="0E7490"/>
                  </a:solidFill>
                  <a:latin typeface="Times New Roman" panose="02020603050405020304" pitchFamily="18" charset="0"/>
                  <a:ea typeface="Times New Roman" pitchFamily="34" charset="-122"/>
                  <a:cs typeface="Times New Roman" panose="02020603050405020304" pitchFamily="18" charset="0"/>
                </a:rPr>
                <a:t>ĐỘ CHÍNH XÁC</a:t>
              </a:r>
              <a:endParaRPr lang="en-US" sz="4000" dirty="0">
                <a:latin typeface="Times New Roman" panose="02020603050405020304" pitchFamily="18" charset="0"/>
                <a:cs typeface="Times New Roman" panose="02020603050405020304" pitchFamily="18" charset="0"/>
              </a:endParaRPr>
            </a:p>
          </p:txBody>
        </p:sp>
        <p:sp>
          <p:nvSpPr>
            <p:cNvPr id="11" name="Text 15">
              <a:extLst>
                <a:ext uri="{FF2B5EF4-FFF2-40B4-BE49-F238E27FC236}">
                  <a16:creationId xmlns:a16="http://schemas.microsoft.com/office/drawing/2014/main" id="{C99C51B2-F39E-A4A7-63A6-B5DD634B4E52}"/>
                </a:ext>
              </a:extLst>
            </p:cNvPr>
            <p:cNvSpPr/>
            <p:nvPr/>
          </p:nvSpPr>
          <p:spPr>
            <a:xfrm>
              <a:off x="8045195" y="2741120"/>
              <a:ext cx="5011050" cy="1147602"/>
            </a:xfrm>
            <a:prstGeom prst="rect">
              <a:avLst/>
            </a:prstGeom>
            <a:noFill/>
            <a:ln/>
          </p:spPr>
          <p:txBody>
            <a:bodyPr wrap="square" lIns="635" tIns="635" rIns="635" bIns="635" rtlCol="0" anchor="ctr">
              <a:normAutofit/>
            </a:bodyPr>
            <a:lstStyle/>
            <a:p>
              <a:pPr marL="0" indent="0" algn="ctr">
                <a:buNone/>
              </a:pPr>
              <a:r>
                <a:rPr lang="en-US" sz="4800" b="1" dirty="0">
                  <a:solidFill>
                    <a:srgbClr val="06344A"/>
                  </a:solidFill>
                  <a:latin typeface="Times New Roman" panose="02020603050405020304" pitchFamily="18" charset="0"/>
                  <a:ea typeface="Times New Roman" pitchFamily="34" charset="-122"/>
                  <a:cs typeface="Times New Roman" panose="02020603050405020304" pitchFamily="18" charset="0"/>
                </a:rPr>
                <a:t>40% → 92%</a:t>
              </a:r>
              <a:endParaRPr lang="en-US" sz="4800" b="1" dirty="0">
                <a:latin typeface="Times New Roman" panose="02020603050405020304" pitchFamily="18" charset="0"/>
                <a:cs typeface="Times New Roman" panose="02020603050405020304" pitchFamily="18" charset="0"/>
              </a:endParaRPr>
            </a:p>
          </p:txBody>
        </p:sp>
      </p:grpSp>
      <p:sp>
        <p:nvSpPr>
          <p:cNvPr id="14" name="Text 17">
            <a:extLst>
              <a:ext uri="{FF2B5EF4-FFF2-40B4-BE49-F238E27FC236}">
                <a16:creationId xmlns:a16="http://schemas.microsoft.com/office/drawing/2014/main" id="{68959ACA-CF46-0A43-055B-6D2963FB672B}"/>
              </a:ext>
            </a:extLst>
          </p:cNvPr>
          <p:cNvSpPr/>
          <p:nvPr/>
        </p:nvSpPr>
        <p:spPr>
          <a:xfrm>
            <a:off x="-152400" y="8297969"/>
            <a:ext cx="18592800" cy="2110740"/>
          </a:xfrm>
          <a:prstGeom prst="rect">
            <a:avLst/>
          </a:prstGeom>
          <a:solidFill>
            <a:schemeClr val="tx2"/>
          </a:solidFill>
          <a:ln/>
        </p:spPr>
        <p:txBody>
          <a:bodyPr wrap="square" lIns="635" tIns="635" rIns="635" bIns="635" rtlCol="0" anchor="ctr">
            <a:normAutofit/>
          </a:bodyPr>
          <a:lstStyle/>
          <a:p>
            <a:pPr marL="0" indent="0" algn="ctr">
              <a:buNone/>
            </a:pPr>
            <a:r>
              <a:rPr lang="en-US" sz="4400" b="1" dirty="0">
                <a:solidFill>
                  <a:schemeClr val="bg1"/>
                </a:solidFill>
                <a:latin typeface="Times New Roman" pitchFamily="34" charset="0"/>
                <a:ea typeface="Times New Roman" pitchFamily="34" charset="-122"/>
                <a:cs typeface="Times New Roman" pitchFamily="34" charset="-120"/>
              </a:rPr>
              <a:t>TĂNG TỐC ĐỘ LÊN 7,5 LẦN – ĐỘ CHÍNH XÁC ĐẠT 92%</a:t>
            </a:r>
            <a:endParaRPr lang="en-US" sz="4400" dirty="0">
              <a:solidFill>
                <a:schemeClr val="bg1"/>
              </a:solidFill>
            </a:endParaRPr>
          </a:p>
        </p:txBody>
      </p:sp>
      <p:sp>
        <p:nvSpPr>
          <p:cNvPr id="15" name="TextBox 14">
            <a:extLst>
              <a:ext uri="{FF2B5EF4-FFF2-40B4-BE49-F238E27FC236}">
                <a16:creationId xmlns:a16="http://schemas.microsoft.com/office/drawing/2014/main" id="{EB86431D-7A56-7A01-EAA2-E108E4C5B2CB}"/>
              </a:ext>
            </a:extLst>
          </p:cNvPr>
          <p:cNvSpPr txBox="1"/>
          <p:nvPr/>
        </p:nvSpPr>
        <p:spPr>
          <a:xfrm>
            <a:off x="5791200" y="2384895"/>
            <a:ext cx="12115800" cy="2308324"/>
          </a:xfrm>
          <a:prstGeom prst="rect">
            <a:avLst/>
          </a:prstGeom>
          <a:noFill/>
          <a:ln w="28575">
            <a:solidFill>
              <a:srgbClr val="00B050"/>
            </a:solidFill>
          </a:ln>
        </p:spPr>
        <p:txBody>
          <a:bodyPr wrap="square" rtlCol="0">
            <a:spAutoFit/>
          </a:bodyPr>
          <a:lstStyle/>
          <a:p>
            <a:r>
              <a:rPr lang="en-VN" sz="3600" dirty="0">
                <a:solidFill>
                  <a:srgbClr val="7030A0"/>
                </a:solidFill>
                <a:latin typeface="Palatino Linotype" panose="02040502050505030304" pitchFamily="18" charset="0"/>
              </a:rPr>
              <a:t>Giảm thời gian phán đoán và phân loại rác bằng khứu giác, xúc giác từ 45 giây (do chúng em tự làm thí nghiệm) xuống còn 6 giây. Thí nghiệm: Cầm vật, phán đoán vật thuộc loại rác nào, bỏ vào thùng rác.</a:t>
            </a:r>
          </a:p>
        </p:txBody>
      </p:sp>
      <p:sp>
        <p:nvSpPr>
          <p:cNvPr id="16" name="TextBox 15">
            <a:extLst>
              <a:ext uri="{FF2B5EF4-FFF2-40B4-BE49-F238E27FC236}">
                <a16:creationId xmlns:a16="http://schemas.microsoft.com/office/drawing/2014/main" id="{82B645B4-1457-590D-B145-3A643F62CF0B}"/>
              </a:ext>
            </a:extLst>
          </p:cNvPr>
          <p:cNvSpPr txBox="1"/>
          <p:nvPr/>
        </p:nvSpPr>
        <p:spPr>
          <a:xfrm>
            <a:off x="5791200" y="5822991"/>
            <a:ext cx="12115800" cy="1200329"/>
          </a:xfrm>
          <a:prstGeom prst="rect">
            <a:avLst/>
          </a:prstGeom>
          <a:noFill/>
          <a:ln w="28575">
            <a:solidFill>
              <a:srgbClr val="00B050"/>
            </a:solidFill>
          </a:ln>
        </p:spPr>
        <p:txBody>
          <a:bodyPr wrap="square" rtlCol="0">
            <a:spAutoFit/>
          </a:bodyPr>
          <a:lstStyle/>
          <a:p>
            <a:r>
              <a:rPr lang="en-VN" sz="3600" dirty="0">
                <a:solidFill>
                  <a:srgbClr val="0000FF"/>
                </a:solidFill>
                <a:latin typeface="Palatino Linotype" panose="02040502050505030304" pitchFamily="18" charset="0"/>
              </a:rPr>
              <a:t>Tỉ lệ do chúng em phán đoán đúng khi bịt mắt là 40%.</a:t>
            </a:r>
          </a:p>
          <a:p>
            <a:r>
              <a:rPr lang="en-VN" sz="3600" dirty="0">
                <a:solidFill>
                  <a:srgbClr val="0000FF"/>
                </a:solidFill>
                <a:latin typeface="Palatino Linotype" panose="02040502050505030304" pitchFamily="18" charset="0"/>
              </a:rPr>
              <a:t>Tỉ lệ do thiết bị nhận diện và phân loại  đúng là 92%. </a:t>
            </a:r>
          </a:p>
        </p:txBody>
      </p:sp>
    </p:spTree>
    <p:extLst>
      <p:ext uri="{BB962C8B-B14F-4D97-AF65-F5344CB8AC3E}">
        <p14:creationId xmlns:p14="http://schemas.microsoft.com/office/powerpoint/2010/main" val="25836171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dissolv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4804B-B652-DECE-95AE-A1C8DA6AA386}"/>
            </a:ext>
          </a:extLst>
        </p:cNvPr>
        <p:cNvGrpSpPr/>
        <p:nvPr/>
      </p:nvGrpSpPr>
      <p:grpSpPr>
        <a:xfrm>
          <a:off x="0" y="0"/>
          <a:ext cx="0" cy="0"/>
          <a:chOff x="0" y="0"/>
          <a:chExt cx="0" cy="0"/>
        </a:xfrm>
      </p:grpSpPr>
      <p:sp>
        <p:nvSpPr>
          <p:cNvPr id="2" name="Freeform 6">
            <a:extLst>
              <a:ext uri="{FF2B5EF4-FFF2-40B4-BE49-F238E27FC236}">
                <a16:creationId xmlns:a16="http://schemas.microsoft.com/office/drawing/2014/main" id="{BC346178-0FA4-C2C3-FA71-60F8A8F0105E}"/>
              </a:ext>
            </a:extLst>
          </p:cNvPr>
          <p:cNvSpPr/>
          <p:nvPr/>
        </p:nvSpPr>
        <p:spPr>
          <a:xfrm>
            <a:off x="217321" y="-240599"/>
            <a:ext cx="2916262" cy="2916262"/>
          </a:xfrm>
          <a:custGeom>
            <a:avLst/>
            <a:gdLst/>
            <a:ahLst/>
            <a:cxnLst/>
            <a:rect l="l" t="t" r="r" b="b"/>
            <a:pathLst>
              <a:path w="2916262" h="2916262">
                <a:moveTo>
                  <a:pt x="0" y="0"/>
                </a:moveTo>
                <a:lnTo>
                  <a:pt x="2916262" y="0"/>
                </a:lnTo>
                <a:lnTo>
                  <a:pt x="2916262" y="2916262"/>
                </a:lnTo>
                <a:lnTo>
                  <a:pt x="0" y="2916262"/>
                </a:lnTo>
                <a:lnTo>
                  <a:pt x="0" y="0"/>
                </a:lnTo>
                <a:close/>
              </a:path>
            </a:pathLst>
          </a:custGeom>
          <a:blipFill>
            <a:blip r:embed="rId3"/>
            <a:stretch>
              <a:fillRect/>
            </a:stretch>
          </a:blipFill>
        </p:spPr>
        <p:txBody>
          <a:bodyPr/>
          <a:lstStyle/>
          <a:p>
            <a:endParaRPr lang="en-VN"/>
          </a:p>
        </p:txBody>
      </p:sp>
      <p:sp>
        <p:nvSpPr>
          <p:cNvPr id="3" name="Text 7">
            <a:extLst>
              <a:ext uri="{FF2B5EF4-FFF2-40B4-BE49-F238E27FC236}">
                <a16:creationId xmlns:a16="http://schemas.microsoft.com/office/drawing/2014/main" id="{5DFDA782-A80A-8EE9-1211-FDA32AEC8993}"/>
              </a:ext>
            </a:extLst>
          </p:cNvPr>
          <p:cNvSpPr/>
          <p:nvPr/>
        </p:nvSpPr>
        <p:spPr>
          <a:xfrm>
            <a:off x="3733800" y="80107"/>
            <a:ext cx="7086600" cy="1676400"/>
          </a:xfrm>
          <a:prstGeom prst="rect">
            <a:avLst/>
          </a:prstGeom>
          <a:noFill/>
          <a:ln/>
        </p:spPr>
        <p:txBody>
          <a:bodyPr wrap="square" lIns="635" tIns="635" rIns="635" bIns="635" rtlCol="0" anchor="ctr">
            <a:normAutofit/>
          </a:bodyPr>
          <a:lstStyle/>
          <a:p>
            <a:pPr marL="0" indent="0" algn="l">
              <a:buNone/>
            </a:pPr>
            <a:r>
              <a:rPr lang="en-US" sz="5400" b="1" dirty="0">
                <a:solidFill>
                  <a:srgbClr val="C00000"/>
                </a:solidFill>
                <a:latin typeface="Times New Roman" pitchFamily="34" charset="0"/>
                <a:ea typeface="Times New Roman" pitchFamily="34" charset="-122"/>
                <a:cs typeface="Times New Roman" pitchFamily="34" charset="-120"/>
              </a:rPr>
              <a:t>HIỆU QUẢ KINH TẾ</a:t>
            </a:r>
            <a:endParaRPr lang="en-US" sz="5400" dirty="0">
              <a:solidFill>
                <a:srgbClr val="C00000"/>
              </a:solidFill>
            </a:endParaRPr>
          </a:p>
        </p:txBody>
      </p:sp>
      <p:pic>
        <p:nvPicPr>
          <p:cNvPr id="4" name="Picture 3" descr="Generated image: Chi phí tự lắp ráp thiết bị">
            <a:extLst>
              <a:ext uri="{FF2B5EF4-FFF2-40B4-BE49-F238E27FC236}">
                <a16:creationId xmlns:a16="http://schemas.microsoft.com/office/drawing/2014/main" id="{F81FF0DF-F787-0353-A725-E3A8221DC22C}"/>
              </a:ext>
            </a:extLst>
          </p:cNvPr>
          <p:cNvPicPr>
            <a:picLocks noChangeAspect="1"/>
          </p:cNvPicPr>
          <p:nvPr/>
        </p:nvPicPr>
        <p:blipFill>
          <a:blip r:embed="rId4"/>
          <a:stretch>
            <a:fillRect/>
          </a:stretch>
        </p:blipFill>
        <p:spPr>
          <a:xfrm>
            <a:off x="217322" y="2019300"/>
            <a:ext cx="10691402" cy="6858000"/>
          </a:xfrm>
          <a:prstGeom prst="rect">
            <a:avLst/>
          </a:prstGeom>
        </p:spPr>
      </p:pic>
      <p:sp>
        <p:nvSpPr>
          <p:cNvPr id="5" name="Rectangle 4">
            <a:extLst>
              <a:ext uri="{FF2B5EF4-FFF2-40B4-BE49-F238E27FC236}">
                <a16:creationId xmlns:a16="http://schemas.microsoft.com/office/drawing/2014/main" id="{01119134-23C2-4CF7-E438-7DB8D9CC5269}"/>
              </a:ext>
            </a:extLst>
          </p:cNvPr>
          <p:cNvSpPr/>
          <p:nvPr/>
        </p:nvSpPr>
        <p:spPr>
          <a:xfrm>
            <a:off x="10668000" y="0"/>
            <a:ext cx="7620000" cy="10287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5425" algn="ctr"/>
            <a:r>
              <a:rPr lang="en-VN" sz="3600" b="1" dirty="0">
                <a:latin typeface="Times New Roman" panose="02020603050405020304" pitchFamily="18" charset="0"/>
                <a:cs typeface="Times New Roman" panose="02020603050405020304" pitchFamily="18" charset="0"/>
              </a:rPr>
              <a:t>KHI SẢN XUẤT </a:t>
            </a:r>
            <a:r>
              <a:rPr lang="en-US" sz="3600" b="1" dirty="0">
                <a:latin typeface="Times New Roman" panose="02020603050405020304" pitchFamily="18" charset="0"/>
                <a:cs typeface="Times New Roman" panose="02020603050405020304" pitchFamily="18" charset="0"/>
              </a:rPr>
              <a:t>SỈ:</a:t>
            </a:r>
            <a:endParaRPr lang="en-VN" sz="3600" b="1" dirty="0">
              <a:latin typeface="Times New Roman" panose="02020603050405020304" pitchFamily="18" charset="0"/>
              <a:cs typeface="Times New Roman" panose="02020603050405020304" pitchFamily="18" charset="0"/>
            </a:endParaRPr>
          </a:p>
          <a:p>
            <a:pPr marL="225425"/>
            <a:r>
              <a:rPr lang="en-VN" sz="3600" dirty="0">
                <a:latin typeface="Times New Roman" panose="02020603050405020304" pitchFamily="18" charset="0"/>
                <a:cs typeface="Times New Roman" panose="02020603050405020304" pitchFamily="18" charset="0"/>
              </a:rPr>
              <a:t>- Đặt mua chip xử lí của Pi 2W, chip xử lí của mạch MAX98357A.</a:t>
            </a:r>
          </a:p>
          <a:p>
            <a:pPr marL="225425">
              <a:buFontTx/>
              <a:buChar char="-"/>
            </a:pPr>
            <a:r>
              <a:rPr lang="en-VN" sz="3600" dirty="0">
                <a:latin typeface="Times New Roman" panose="02020603050405020304" pitchFamily="18" charset="0"/>
                <a:cs typeface="Times New Roman" panose="02020603050405020304" pitchFamily="18" charset="0"/>
              </a:rPr>
              <a:t> Đặt mua các linh kiện khác để tự thiết kế và in mạch.</a:t>
            </a:r>
          </a:p>
          <a:p>
            <a:pPr marL="225425">
              <a:buFontTx/>
              <a:buChar char="-"/>
            </a:pPr>
            <a:r>
              <a:rPr lang="en-VN" sz="3600" dirty="0">
                <a:latin typeface="Times New Roman" panose="02020603050405020304" pitchFamily="18" charset="0"/>
                <a:cs typeface="Times New Roman" panose="02020603050405020304" pitchFamily="18" charset="0"/>
              </a:rPr>
              <a:t> Đặt làm khung nhựa bằng máy móc công nghiệp.</a:t>
            </a:r>
          </a:p>
          <a:p>
            <a:pPr marL="796925" indent="-571500">
              <a:buFont typeface="Wingdings" panose="05000000000000000000" pitchFamily="2" charset="2"/>
              <a:buChar char="à"/>
            </a:pPr>
            <a:r>
              <a:rPr lang="en-US" sz="3600" dirty="0">
                <a:latin typeface="Times New Roman" panose="02020603050405020304" pitchFamily="18" charset="0"/>
                <a:cs typeface="Times New Roman" panose="02020603050405020304" pitchFamily="18" charset="0"/>
                <a:sym typeface="Wingdings" pitchFamily="2" charset="2"/>
              </a:rPr>
              <a:t>G</a:t>
            </a:r>
            <a:r>
              <a:rPr lang="en-VN" sz="3600" dirty="0">
                <a:latin typeface="Times New Roman" panose="02020603050405020304" pitchFamily="18" charset="0"/>
                <a:cs typeface="Times New Roman" panose="02020603050405020304" pitchFamily="18" charset="0"/>
                <a:sym typeface="Wingdings" pitchFamily="2" charset="2"/>
              </a:rPr>
              <a:t>iá thành sản</a:t>
            </a:r>
            <a:r>
              <a:rPr lang="en-US" sz="3600" dirty="0">
                <a:latin typeface="Times New Roman" panose="02020603050405020304" pitchFamily="18" charset="0"/>
                <a:cs typeface="Times New Roman" panose="02020603050405020304" pitchFamily="18" charset="0"/>
                <a:sym typeface="Wingdings" pitchFamily="2" charset="2"/>
              </a:rPr>
              <a:t> </a:t>
            </a:r>
            <a:r>
              <a:rPr lang="en-VN" sz="3600" dirty="0">
                <a:latin typeface="Times New Roman" panose="02020603050405020304" pitchFamily="18" charset="0"/>
                <a:cs typeface="Times New Roman" panose="02020603050405020304" pitchFamily="18" charset="0"/>
                <a:sym typeface="Wingdings" pitchFamily="2" charset="2"/>
              </a:rPr>
              <a:t>xuất sẽ rẻ hơn rất nhiều</a:t>
            </a:r>
            <a:r>
              <a:rPr lang="en-US" sz="3600" dirty="0">
                <a:latin typeface="Times New Roman" panose="02020603050405020304" pitchFamily="18" charset="0"/>
                <a:cs typeface="Times New Roman" panose="02020603050405020304" pitchFamily="18" charset="0"/>
                <a:sym typeface="Wingdings" pitchFamily="2" charset="2"/>
              </a:rPr>
              <a:t> </a:t>
            </a:r>
          </a:p>
          <a:p>
            <a:pPr marL="225425" algn="ctr"/>
            <a:r>
              <a:rPr lang="en-US" sz="4400" b="1" dirty="0">
                <a:solidFill>
                  <a:srgbClr val="FFFF00"/>
                </a:solidFill>
                <a:latin typeface="Times New Roman" panose="02020603050405020304" pitchFamily="18" charset="0"/>
                <a:cs typeface="Times New Roman" panose="02020603050405020304" pitchFamily="18" charset="0"/>
                <a:sym typeface="Wingdings" pitchFamily="2" charset="2"/>
              </a:rPr>
              <a:t>(&lt; 1 </a:t>
            </a:r>
            <a:r>
              <a:rPr lang="en-US" sz="4400" b="1" dirty="0" err="1">
                <a:solidFill>
                  <a:srgbClr val="FFFF00"/>
                </a:solidFill>
                <a:latin typeface="Times New Roman" panose="02020603050405020304" pitchFamily="18" charset="0"/>
                <a:cs typeface="Times New Roman" panose="02020603050405020304" pitchFamily="18" charset="0"/>
                <a:sym typeface="Wingdings" pitchFamily="2" charset="2"/>
              </a:rPr>
              <a:t>triệu</a:t>
            </a:r>
            <a:r>
              <a:rPr lang="en-US" sz="4400" b="1" dirty="0">
                <a:solidFill>
                  <a:srgbClr val="FFFF00"/>
                </a:solidFill>
                <a:latin typeface="Times New Roman" panose="02020603050405020304" pitchFamily="18" charset="0"/>
                <a:cs typeface="Times New Roman" panose="02020603050405020304" pitchFamily="18" charset="0"/>
                <a:sym typeface="Wingdings" pitchFamily="2" charset="2"/>
              </a:rPr>
              <a:t> </a:t>
            </a:r>
            <a:r>
              <a:rPr lang="en-US" sz="4400" b="1" dirty="0" err="1">
                <a:solidFill>
                  <a:srgbClr val="FFFF00"/>
                </a:solidFill>
                <a:latin typeface="Times New Roman" panose="02020603050405020304" pitchFamily="18" charset="0"/>
                <a:cs typeface="Times New Roman" panose="02020603050405020304" pitchFamily="18" charset="0"/>
                <a:sym typeface="Wingdings" pitchFamily="2" charset="2"/>
              </a:rPr>
              <a:t>đồng</a:t>
            </a:r>
            <a:r>
              <a:rPr lang="en-US" sz="4400" b="1" dirty="0">
                <a:solidFill>
                  <a:srgbClr val="FFFF00"/>
                </a:solidFill>
                <a:latin typeface="Times New Roman" panose="02020603050405020304" pitchFamily="18" charset="0"/>
                <a:cs typeface="Times New Roman" panose="02020603050405020304" pitchFamily="18" charset="0"/>
                <a:sym typeface="Wingdings" pitchFamily="2" charset="2"/>
              </a:rPr>
              <a:t>)</a:t>
            </a:r>
            <a:r>
              <a:rPr lang="en-VN" sz="4400" b="1" dirty="0">
                <a:solidFill>
                  <a:srgbClr val="FFFF00"/>
                </a:solidFill>
                <a:latin typeface="Times New Roman" panose="02020603050405020304" pitchFamily="18" charset="0"/>
                <a:cs typeface="Times New Roman" panose="02020603050405020304" pitchFamily="18" charset="0"/>
                <a:sym typeface="Wingdings" pitchFamily="2" charset="2"/>
              </a:rPr>
              <a:t> </a:t>
            </a:r>
            <a:endParaRPr lang="en-VN" sz="4400" b="1" dirty="0">
              <a:solidFill>
                <a:srgbClr val="FFFF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34467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999926" y="-3999282"/>
            <a:ext cx="10287000" cy="18286850"/>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66" y="0"/>
            <a:ext cx="13606268" cy="10286358"/>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474237" y="-2528760"/>
            <a:ext cx="7341846" cy="18290319"/>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 0" descr="/mnt/data/a_sleek_futuristic_sci_fi_tech_illustration_conc_batch_6.png">
            <a:extLst>
              <a:ext uri="{FF2B5EF4-FFF2-40B4-BE49-F238E27FC236}">
                <a16:creationId xmlns:a16="http://schemas.microsoft.com/office/drawing/2014/main" id="{E5694FFF-1C39-3660-6305-72EB01F84F30}"/>
              </a:ext>
            </a:extLst>
          </p:cNvPr>
          <p:cNvPicPr>
            <a:picLocks noChangeAspect="1"/>
          </p:cNvPicPr>
          <p:nvPr/>
        </p:nvPicPr>
        <p:blipFill>
          <a:blip r:embed="rId2"/>
          <a:srcRect t="25" b="25"/>
          <a:stretch/>
        </p:blipFill>
        <p:spPr>
          <a:xfrm>
            <a:off x="304225" y="1134671"/>
            <a:ext cx="17678400" cy="8915400"/>
          </a:xfrm>
          <a:prstGeom prst="rect">
            <a:avLst/>
          </a:prstGeom>
        </p:spPr>
      </p:pic>
      <p:sp>
        <p:nvSpPr>
          <p:cNvPr id="3" name="TextBox 2">
            <a:extLst>
              <a:ext uri="{FF2B5EF4-FFF2-40B4-BE49-F238E27FC236}">
                <a16:creationId xmlns:a16="http://schemas.microsoft.com/office/drawing/2014/main" id="{1C000812-4D9F-4A25-BE9B-693CAB439BFD}"/>
              </a:ext>
            </a:extLst>
          </p:cNvPr>
          <p:cNvSpPr txBox="1"/>
          <p:nvPr/>
        </p:nvSpPr>
        <p:spPr>
          <a:xfrm>
            <a:off x="321365" y="236929"/>
            <a:ext cx="5446363" cy="707886"/>
          </a:xfrm>
          <a:prstGeom prst="rect">
            <a:avLst/>
          </a:prstGeom>
          <a:noFill/>
        </p:spPr>
        <p:txBody>
          <a:bodyPr wrap="none" rtlCol="0">
            <a:spAutoFit/>
          </a:bodyPr>
          <a:lstStyle/>
          <a:p>
            <a:r>
              <a:rPr lang="en-VN" sz="4000" b="1" dirty="0">
                <a:solidFill>
                  <a:srgbClr val="FFFF00"/>
                </a:solidFill>
                <a:latin typeface="Times New Roman" panose="02020603050405020304" pitchFamily="18" charset="0"/>
                <a:cs typeface="Times New Roman" panose="02020603050405020304" pitchFamily="18" charset="0"/>
              </a:rPr>
              <a:t>HƯỚNG PHÁT TRIỂN</a:t>
            </a:r>
          </a:p>
        </p:txBody>
      </p:sp>
      <p:sp>
        <p:nvSpPr>
          <p:cNvPr id="4" name="Text 5">
            <a:extLst>
              <a:ext uri="{FF2B5EF4-FFF2-40B4-BE49-F238E27FC236}">
                <a16:creationId xmlns:a16="http://schemas.microsoft.com/office/drawing/2014/main" id="{5445094D-E686-40BA-7D2E-A3EF72BCD010}"/>
              </a:ext>
            </a:extLst>
          </p:cNvPr>
          <p:cNvSpPr/>
          <p:nvPr/>
        </p:nvSpPr>
        <p:spPr>
          <a:xfrm>
            <a:off x="584033" y="2949161"/>
            <a:ext cx="4921026" cy="557076"/>
          </a:xfrm>
          <a:prstGeom prst="rect">
            <a:avLst/>
          </a:prstGeom>
          <a:noFill/>
          <a:ln/>
        </p:spPr>
        <p:txBody>
          <a:bodyPr wrap="square" lIns="0" tIns="0" rIns="0" bIns="0" rtlCol="0" anchor="ctr"/>
          <a:lstStyle/>
          <a:p>
            <a:pPr marL="0" indent="0">
              <a:buNone/>
            </a:pPr>
            <a:r>
              <a:rPr lang="en-US" sz="3600" b="1" dirty="0">
                <a:solidFill>
                  <a:srgbClr val="FFFFFF"/>
                </a:solidFill>
                <a:latin typeface="Times New Roman" panose="02020603050405020304" pitchFamily="18" charset="0"/>
                <a:cs typeface="Times New Roman" panose="02020603050405020304" pitchFamily="18" charset="0"/>
              </a:rPr>
              <a:t>Nhận diện mệnh giá tiền</a:t>
            </a:r>
            <a:endParaRPr lang="en-US" sz="3600" dirty="0">
              <a:latin typeface="Times New Roman" panose="02020603050405020304" pitchFamily="18" charset="0"/>
              <a:cs typeface="Times New Roman" panose="02020603050405020304" pitchFamily="18" charset="0"/>
            </a:endParaRPr>
          </a:p>
        </p:txBody>
      </p:sp>
      <p:sp>
        <p:nvSpPr>
          <p:cNvPr id="6" name="Text 8">
            <a:extLst>
              <a:ext uri="{FF2B5EF4-FFF2-40B4-BE49-F238E27FC236}">
                <a16:creationId xmlns:a16="http://schemas.microsoft.com/office/drawing/2014/main" id="{62C9FA07-B53A-EE7D-E067-FEFC4AEC4135}"/>
              </a:ext>
            </a:extLst>
          </p:cNvPr>
          <p:cNvSpPr/>
          <p:nvPr/>
        </p:nvSpPr>
        <p:spPr>
          <a:xfrm>
            <a:off x="6067556" y="2526581"/>
            <a:ext cx="3486374" cy="618117"/>
          </a:xfrm>
          <a:prstGeom prst="rect">
            <a:avLst/>
          </a:prstGeom>
          <a:noFill/>
          <a:ln/>
        </p:spPr>
        <p:txBody>
          <a:bodyPr wrap="square" lIns="0" tIns="0" rIns="0" bIns="0" rtlCol="0" anchor="ctr"/>
          <a:lstStyle/>
          <a:p>
            <a:r>
              <a:rPr lang="en-US" sz="3600" b="1" dirty="0">
                <a:solidFill>
                  <a:srgbClr val="FFFFFF"/>
                </a:solidFill>
                <a:latin typeface="Times New Roman" panose="02020603050405020304" pitchFamily="18" charset="0"/>
                <a:cs typeface="Times New Roman" panose="02020603050405020304" pitchFamily="18" charset="0"/>
              </a:rPr>
              <a:t>Đọc nhãn thuốc</a:t>
            </a:r>
            <a:endParaRPr lang="en-US" sz="3600" dirty="0">
              <a:solidFill>
                <a:prstClr val="black"/>
              </a:solidFill>
              <a:latin typeface="Times New Roman" panose="02020603050405020304" pitchFamily="18" charset="0"/>
              <a:cs typeface="Times New Roman" panose="02020603050405020304" pitchFamily="18" charset="0"/>
            </a:endParaRPr>
          </a:p>
        </p:txBody>
      </p:sp>
      <p:sp>
        <p:nvSpPr>
          <p:cNvPr id="12" name="Parallelogram 11">
            <a:extLst>
              <a:ext uri="{FF2B5EF4-FFF2-40B4-BE49-F238E27FC236}">
                <a16:creationId xmlns:a16="http://schemas.microsoft.com/office/drawing/2014/main" id="{4D81A008-DDDE-1B07-A072-A21B9934088D}"/>
              </a:ext>
            </a:extLst>
          </p:cNvPr>
          <p:cNvSpPr/>
          <p:nvPr/>
        </p:nvSpPr>
        <p:spPr>
          <a:xfrm>
            <a:off x="6052064" y="-84157"/>
            <a:ext cx="12251926" cy="1219200"/>
          </a:xfrm>
          <a:prstGeom prst="parallelogram">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4800" dirty="0">
                <a:latin typeface="Times New Roman" panose="02020603050405020304" pitchFamily="18" charset="0"/>
                <a:cs typeface="Times New Roman" panose="02020603050405020304" pitchFamily="18" charset="0"/>
              </a:rPr>
              <a:t>Từ phân loại rác đến trợ lý thị giác</a:t>
            </a:r>
          </a:p>
        </p:txBody>
      </p:sp>
      <p:sp>
        <p:nvSpPr>
          <p:cNvPr id="8" name="Text 11">
            <a:extLst>
              <a:ext uri="{FF2B5EF4-FFF2-40B4-BE49-F238E27FC236}">
                <a16:creationId xmlns:a16="http://schemas.microsoft.com/office/drawing/2014/main" id="{A3A854A8-3FC9-411F-B792-745791C29716}"/>
              </a:ext>
            </a:extLst>
          </p:cNvPr>
          <p:cNvSpPr/>
          <p:nvPr/>
        </p:nvSpPr>
        <p:spPr>
          <a:xfrm>
            <a:off x="9143425" y="1560971"/>
            <a:ext cx="4162552" cy="1274668"/>
          </a:xfrm>
          <a:prstGeom prst="rect">
            <a:avLst/>
          </a:prstGeom>
          <a:noFill/>
          <a:ln/>
        </p:spPr>
        <p:txBody>
          <a:bodyPr wrap="square" lIns="0" tIns="0" rIns="0" bIns="0" rtlCol="0" anchor="ctr"/>
          <a:lstStyle/>
          <a:p>
            <a:pPr marL="0" indent="0" algn="ctr">
              <a:buNone/>
            </a:pPr>
            <a:r>
              <a:rPr lang="en-US" sz="3600" b="1" dirty="0">
                <a:solidFill>
                  <a:srgbClr val="FFFFFF"/>
                </a:solidFill>
                <a:latin typeface="Times New Roman" panose="02020603050405020304" pitchFamily="18" charset="0"/>
                <a:cs typeface="Times New Roman" panose="02020603050405020304" pitchFamily="18" charset="0"/>
              </a:rPr>
              <a:t>Cảnh báo </a:t>
            </a:r>
            <a:r>
              <a:rPr lang="en-US" sz="3600" b="1" dirty="0" err="1">
                <a:solidFill>
                  <a:srgbClr val="FFFFFF"/>
                </a:solidFill>
                <a:latin typeface="Times New Roman" panose="02020603050405020304" pitchFamily="18" charset="0"/>
                <a:cs typeface="Times New Roman" panose="02020603050405020304" pitchFamily="18" charset="0"/>
              </a:rPr>
              <a:t>vật</a:t>
            </a:r>
            <a:r>
              <a:rPr lang="en-US" sz="3600" b="1" dirty="0">
                <a:solidFill>
                  <a:srgbClr val="FFFFFF"/>
                </a:solidFill>
                <a:latin typeface="Times New Roman" panose="02020603050405020304" pitchFamily="18" charset="0"/>
                <a:cs typeface="Times New Roman" panose="02020603050405020304" pitchFamily="18" charset="0"/>
              </a:rPr>
              <a:t> </a:t>
            </a:r>
            <a:r>
              <a:rPr lang="en-US" sz="3600" b="1" dirty="0" err="1">
                <a:solidFill>
                  <a:srgbClr val="FFFFFF"/>
                </a:solidFill>
                <a:latin typeface="Times New Roman" panose="02020603050405020304" pitchFamily="18" charset="0"/>
                <a:cs typeface="Times New Roman" panose="02020603050405020304" pitchFamily="18" charset="0"/>
              </a:rPr>
              <a:t>cản</a:t>
            </a:r>
            <a:r>
              <a:rPr lang="en-US" sz="3600" b="1" dirty="0">
                <a:solidFill>
                  <a:srgbClr val="FFFFFF"/>
                </a:solidFill>
                <a:latin typeface="Times New Roman" panose="02020603050405020304" pitchFamily="18" charset="0"/>
                <a:cs typeface="Times New Roman" panose="02020603050405020304" pitchFamily="18" charset="0"/>
              </a:rPr>
              <a:t> </a:t>
            </a:r>
          </a:p>
          <a:p>
            <a:pPr marL="0" indent="0" algn="ctr">
              <a:buNone/>
            </a:pPr>
            <a:r>
              <a:rPr lang="en-US" sz="3600" b="1" dirty="0" err="1">
                <a:solidFill>
                  <a:srgbClr val="FFFFFF"/>
                </a:solidFill>
                <a:latin typeface="Times New Roman" panose="02020603050405020304" pitchFamily="18" charset="0"/>
                <a:cs typeface="Times New Roman" panose="02020603050405020304" pitchFamily="18" charset="0"/>
              </a:rPr>
              <a:t>và</a:t>
            </a:r>
            <a:r>
              <a:rPr lang="en-US" sz="3600" b="1" dirty="0">
                <a:solidFill>
                  <a:srgbClr val="FFFFFF"/>
                </a:solidFill>
                <a:latin typeface="Times New Roman" panose="02020603050405020304" pitchFamily="18" charset="0"/>
                <a:cs typeface="Times New Roman" panose="02020603050405020304" pitchFamily="18" charset="0"/>
              </a:rPr>
              <a:t> </a:t>
            </a:r>
            <a:r>
              <a:rPr lang="en-US" sz="3600" b="1" dirty="0" err="1">
                <a:solidFill>
                  <a:srgbClr val="FFFFFF"/>
                </a:solidFill>
                <a:latin typeface="Times New Roman" panose="02020603050405020304" pitchFamily="18" charset="0"/>
                <a:cs typeface="Times New Roman" panose="02020603050405020304" pitchFamily="18" charset="0"/>
              </a:rPr>
              <a:t>chỉ</a:t>
            </a:r>
            <a:r>
              <a:rPr lang="en-US" sz="3600" b="1" dirty="0">
                <a:solidFill>
                  <a:srgbClr val="FFFFFF"/>
                </a:solidFill>
                <a:latin typeface="Times New Roman" panose="02020603050405020304" pitchFamily="18" charset="0"/>
                <a:cs typeface="Times New Roman" panose="02020603050405020304" pitchFamily="18" charset="0"/>
              </a:rPr>
              <a:t> </a:t>
            </a:r>
            <a:r>
              <a:rPr lang="en-US" sz="3600" b="1" dirty="0" err="1">
                <a:solidFill>
                  <a:srgbClr val="FFFFFF"/>
                </a:solidFill>
                <a:latin typeface="Times New Roman" panose="02020603050405020304" pitchFamily="18" charset="0"/>
                <a:cs typeface="Times New Roman" panose="02020603050405020304" pitchFamily="18" charset="0"/>
              </a:rPr>
              <a:t>đường</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749656"/>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3066FF">
                <a:alpha val="100000"/>
              </a:srgbClr>
            </a:gs>
            <a:gs pos="20000">
              <a:srgbClr val="587BFF">
                <a:alpha val="100000"/>
              </a:srgbClr>
            </a:gs>
            <a:gs pos="40000">
              <a:srgbClr val="7A89FE">
                <a:alpha val="100000"/>
              </a:srgbClr>
            </a:gs>
            <a:gs pos="60000">
              <a:srgbClr val="AFA6FF">
                <a:alpha val="100000"/>
              </a:srgbClr>
            </a:gs>
            <a:gs pos="80000">
              <a:srgbClr val="CCB5FE">
                <a:alpha val="100000"/>
              </a:srgbClr>
            </a:gs>
            <a:gs pos="100000">
              <a:srgbClr val="C391F6">
                <a:alpha val="100000"/>
              </a:srgbClr>
            </a:gs>
          </a:gsLst>
          <a:lin ang="5400000"/>
        </a:gradFill>
        <a:effectLst/>
      </p:bgPr>
    </p:bg>
    <p:spTree>
      <p:nvGrpSpPr>
        <p:cNvPr id="1" name="">
          <a:extLst>
            <a:ext uri="{FF2B5EF4-FFF2-40B4-BE49-F238E27FC236}">
              <a16:creationId xmlns:a16="http://schemas.microsoft.com/office/drawing/2014/main" id="{B5A42CBF-060B-D0C7-5867-BE0F913FC6A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38E4D3B-2989-87F6-6F37-0208A1DB56B3}"/>
              </a:ext>
            </a:extLst>
          </p:cNvPr>
          <p:cNvSpPr/>
          <p:nvPr/>
        </p:nvSpPr>
        <p:spPr>
          <a:xfrm>
            <a:off x="11606625" y="1217532"/>
            <a:ext cx="6681375" cy="4613903"/>
          </a:xfrm>
          <a:custGeom>
            <a:avLst/>
            <a:gdLst/>
            <a:ahLst/>
            <a:cxnLst/>
            <a:rect l="l" t="t" r="r" b="b"/>
            <a:pathLst>
              <a:path w="6681375" h="4613903">
                <a:moveTo>
                  <a:pt x="0" y="0"/>
                </a:moveTo>
                <a:lnTo>
                  <a:pt x="6681375" y="0"/>
                </a:lnTo>
                <a:lnTo>
                  <a:pt x="6681375" y="4613904"/>
                </a:lnTo>
                <a:lnTo>
                  <a:pt x="0" y="4613904"/>
                </a:lnTo>
                <a:lnTo>
                  <a:pt x="0" y="0"/>
                </a:lnTo>
                <a:close/>
              </a:path>
            </a:pathLst>
          </a:custGeom>
          <a:blipFill>
            <a:blip r:embed="rId2"/>
            <a:stretch>
              <a:fillRect l="-51097" t="-17435" b="-10136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C7413055-5CFD-7188-A33C-116F5F2C92F5}"/>
              </a:ext>
            </a:extLst>
          </p:cNvPr>
          <p:cNvSpPr/>
          <p:nvPr/>
        </p:nvSpPr>
        <p:spPr>
          <a:xfrm flipH="1">
            <a:off x="-3957" y="1217532"/>
            <a:ext cx="6681375" cy="4613903"/>
          </a:xfrm>
          <a:custGeom>
            <a:avLst/>
            <a:gdLst/>
            <a:ahLst/>
            <a:cxnLst/>
            <a:rect l="l" t="t" r="r" b="b"/>
            <a:pathLst>
              <a:path w="6681375" h="4613903">
                <a:moveTo>
                  <a:pt x="6681374" y="0"/>
                </a:moveTo>
                <a:lnTo>
                  <a:pt x="0" y="0"/>
                </a:lnTo>
                <a:lnTo>
                  <a:pt x="0" y="4613904"/>
                </a:lnTo>
                <a:lnTo>
                  <a:pt x="6681374" y="4613904"/>
                </a:lnTo>
                <a:lnTo>
                  <a:pt x="6681374" y="0"/>
                </a:lnTo>
                <a:close/>
              </a:path>
            </a:pathLst>
          </a:custGeom>
          <a:blipFill>
            <a:blip r:embed="rId2"/>
            <a:stretch>
              <a:fillRect l="-51097" t="-17435" b="-10136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F9C8731A-A830-83CE-6A98-1DB3906BF4A7}"/>
              </a:ext>
            </a:extLst>
          </p:cNvPr>
          <p:cNvSpPr/>
          <p:nvPr/>
        </p:nvSpPr>
        <p:spPr>
          <a:xfrm>
            <a:off x="2357" y="1179432"/>
            <a:ext cx="18288000" cy="8610734"/>
          </a:xfrm>
          <a:custGeom>
            <a:avLst/>
            <a:gdLst/>
            <a:ahLst/>
            <a:cxnLst/>
            <a:rect l="l" t="t" r="r" b="b"/>
            <a:pathLst>
              <a:path w="18288000" h="8610734">
                <a:moveTo>
                  <a:pt x="0" y="0"/>
                </a:moveTo>
                <a:lnTo>
                  <a:pt x="18288000" y="0"/>
                </a:lnTo>
                <a:lnTo>
                  <a:pt x="18288000" y="8610734"/>
                </a:lnTo>
                <a:lnTo>
                  <a:pt x="0" y="8610734"/>
                </a:lnTo>
                <a:lnTo>
                  <a:pt x="0" y="0"/>
                </a:lnTo>
                <a:close/>
              </a:path>
            </a:pathLst>
          </a:custGeom>
          <a:blipFill>
            <a:blip r:embed="rId3">
              <a:alphaModFix amt="35000"/>
              <a:extLst>
                <a:ext uri="{BEBA8EAE-BF5A-486C-A8C5-ECC9F3942E4B}">
                  <a14:imgProps xmlns:a14="http://schemas.microsoft.com/office/drawing/2010/main">
                    <a14:imgLayer r:embed="rId4">
                      <a14:imgEffect>
                        <a14:artisticMarker/>
                      </a14:imgEffect>
                    </a14:imgLayer>
                  </a14:imgProps>
                </a:ext>
              </a:extLst>
            </a:blip>
            <a:stretch>
              <a:fillRect t="-26724" b="-1477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A3329718-212A-B41F-9F86-75C569012D21}"/>
              </a:ext>
            </a:extLst>
          </p:cNvPr>
          <p:cNvSpPr/>
          <p:nvPr/>
        </p:nvSpPr>
        <p:spPr>
          <a:xfrm>
            <a:off x="217321" y="-240600"/>
            <a:ext cx="3450488" cy="3402899"/>
          </a:xfrm>
          <a:custGeom>
            <a:avLst/>
            <a:gdLst/>
            <a:ahLst/>
            <a:cxnLst/>
            <a:rect l="l" t="t" r="r" b="b"/>
            <a:pathLst>
              <a:path w="2916262" h="2916262">
                <a:moveTo>
                  <a:pt x="0" y="0"/>
                </a:moveTo>
                <a:lnTo>
                  <a:pt x="2916262" y="0"/>
                </a:lnTo>
                <a:lnTo>
                  <a:pt x="2916262" y="2916262"/>
                </a:lnTo>
                <a:lnTo>
                  <a:pt x="0" y="2916262"/>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7" name="Group 7">
            <a:extLst>
              <a:ext uri="{FF2B5EF4-FFF2-40B4-BE49-F238E27FC236}">
                <a16:creationId xmlns:a16="http://schemas.microsoft.com/office/drawing/2014/main" id="{15EDDA0D-94ED-5C6C-A939-013748CCF2D0}"/>
              </a:ext>
            </a:extLst>
          </p:cNvPr>
          <p:cNvGrpSpPr/>
          <p:nvPr/>
        </p:nvGrpSpPr>
        <p:grpSpPr>
          <a:xfrm>
            <a:off x="4171106" y="82143"/>
            <a:ext cx="9945787" cy="1567627"/>
            <a:chOff x="0" y="-85725"/>
            <a:chExt cx="2619467" cy="412873"/>
          </a:xfrm>
        </p:grpSpPr>
        <p:sp>
          <p:nvSpPr>
            <p:cNvPr id="8" name="Freeform 8">
              <a:extLst>
                <a:ext uri="{FF2B5EF4-FFF2-40B4-BE49-F238E27FC236}">
                  <a16:creationId xmlns:a16="http://schemas.microsoft.com/office/drawing/2014/main" id="{60D7C51C-AC99-3D96-445E-1FC9060DA7DB}"/>
                </a:ext>
              </a:extLst>
            </p:cNvPr>
            <p:cNvSpPr/>
            <p:nvPr/>
          </p:nvSpPr>
          <p:spPr>
            <a:xfrm>
              <a:off x="0" y="0"/>
              <a:ext cx="2619467" cy="213308"/>
            </a:xfrm>
            <a:custGeom>
              <a:avLst/>
              <a:gdLst/>
              <a:ahLst/>
              <a:cxnLst/>
              <a:rect l="l" t="t" r="r" b="b"/>
              <a:pathLst>
                <a:path w="2619467" h="327148">
                  <a:moveTo>
                    <a:pt x="39699" y="0"/>
                  </a:moveTo>
                  <a:lnTo>
                    <a:pt x="2579768" y="0"/>
                  </a:lnTo>
                  <a:cubicBezTo>
                    <a:pt x="2601693" y="0"/>
                    <a:pt x="2619467" y="17774"/>
                    <a:pt x="2619467" y="39699"/>
                  </a:cubicBezTo>
                  <a:lnTo>
                    <a:pt x="2619467" y="287449"/>
                  </a:lnTo>
                  <a:cubicBezTo>
                    <a:pt x="2619467" y="309374"/>
                    <a:pt x="2601693" y="327148"/>
                    <a:pt x="2579768" y="327148"/>
                  </a:cubicBezTo>
                  <a:lnTo>
                    <a:pt x="39699" y="327148"/>
                  </a:lnTo>
                  <a:cubicBezTo>
                    <a:pt x="17774" y="327148"/>
                    <a:pt x="0" y="309374"/>
                    <a:pt x="0" y="287449"/>
                  </a:cubicBezTo>
                  <a:lnTo>
                    <a:pt x="0" y="39699"/>
                  </a:lnTo>
                  <a:cubicBezTo>
                    <a:pt x="0" y="17774"/>
                    <a:pt x="17774" y="0"/>
                    <a:pt x="39699" y="0"/>
                  </a:cubicBezTo>
                  <a:close/>
                </a:path>
              </a:pathLst>
            </a:custGeom>
            <a:gradFill rotWithShape="1">
              <a:gsLst>
                <a:gs pos="0">
                  <a:srgbClr val="8C01BF">
                    <a:alpha val="100000"/>
                  </a:srgbClr>
                </a:gs>
                <a:gs pos="50000">
                  <a:srgbClr val="5C09C5">
                    <a:alpha val="100000"/>
                  </a:srgbClr>
                </a:gs>
                <a:gs pos="100000">
                  <a:srgbClr val="4F03E9">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a:extLst>
                <a:ext uri="{FF2B5EF4-FFF2-40B4-BE49-F238E27FC236}">
                  <a16:creationId xmlns:a16="http://schemas.microsoft.com/office/drawing/2014/main" id="{8A4B45DA-6EC5-F571-132F-E9EDF2A626C3}"/>
                </a:ext>
              </a:extLst>
            </p:cNvPr>
            <p:cNvSpPr txBox="1"/>
            <p:nvPr/>
          </p:nvSpPr>
          <p:spPr>
            <a:xfrm>
              <a:off x="0" y="-85725"/>
              <a:ext cx="2619467" cy="412873"/>
            </a:xfrm>
            <a:prstGeom prst="rect">
              <a:avLst/>
            </a:prstGeom>
          </p:spPr>
          <p:txBody>
            <a:bodyPr lIns="50800" tIns="50800" rIns="50800" bIns="50800" rtlCol="0" anchor="ctr"/>
            <a:lstStyle/>
            <a:p>
              <a:pPr marL="0" marR="0" lvl="0" indent="0" algn="ctr" defTabSz="914400" rtl="0" eaLnBrk="1" fontAlgn="auto" latinLnBrk="0" hangingPunct="1">
                <a:lnSpc>
                  <a:spcPts val="6579"/>
                </a:lnSpc>
                <a:spcBef>
                  <a:spcPct val="0"/>
                </a:spcBef>
                <a:spcAft>
                  <a:spcPts val="0"/>
                </a:spcAft>
                <a:buClrTx/>
                <a:buSzTx/>
                <a:buFontTx/>
                <a:buNone/>
                <a:tabLst/>
                <a:defRPr/>
              </a:pPr>
              <a:r>
                <a:rPr kumimoji="0" lang="en-US" sz="4699" b="0" i="0" u="none" strike="noStrike" kern="1200" cap="none" spc="465" normalizeH="0" baseline="0" noProof="0" dirty="0">
                  <a:ln>
                    <a:noFill/>
                  </a:ln>
                  <a:solidFill>
                    <a:srgbClr val="FFFFFF"/>
                  </a:solidFill>
                  <a:effectLst/>
                  <a:uLnTx/>
                  <a:uFillTx/>
                  <a:latin typeface="Bevan"/>
                  <a:ea typeface="Bevan"/>
                  <a:cs typeface="Bevan"/>
                  <a:sym typeface="Bevan"/>
                </a:rPr>
                <a:t>AI-GREEN EYE</a:t>
              </a:r>
            </a:p>
          </p:txBody>
        </p:sp>
      </p:grpSp>
      <p:sp>
        <p:nvSpPr>
          <p:cNvPr id="26" name="Freeform 25">
            <a:extLst>
              <a:ext uri="{FF2B5EF4-FFF2-40B4-BE49-F238E27FC236}">
                <a16:creationId xmlns:a16="http://schemas.microsoft.com/office/drawing/2014/main" id="{28476BC6-655A-04D1-48A0-78779BB9B8D2}"/>
              </a:ext>
            </a:extLst>
          </p:cNvPr>
          <p:cNvSpPr/>
          <p:nvPr/>
        </p:nvSpPr>
        <p:spPr>
          <a:xfrm>
            <a:off x="14604478" y="388930"/>
            <a:ext cx="3450489" cy="2233598"/>
          </a:xfrm>
          <a:custGeom>
            <a:avLst/>
            <a:gdLst/>
            <a:ahLst/>
            <a:cxnLst/>
            <a:rect l="l" t="t" r="r" b="b"/>
            <a:pathLst>
              <a:path w="9502490" h="6331034">
                <a:moveTo>
                  <a:pt x="0" y="0"/>
                </a:moveTo>
                <a:lnTo>
                  <a:pt x="9502490" y="0"/>
                </a:lnTo>
                <a:lnTo>
                  <a:pt x="9502490" y="6331034"/>
                </a:lnTo>
                <a:lnTo>
                  <a:pt x="0" y="6331034"/>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 2">
            <a:extLst>
              <a:ext uri="{FF2B5EF4-FFF2-40B4-BE49-F238E27FC236}">
                <a16:creationId xmlns:a16="http://schemas.microsoft.com/office/drawing/2014/main" id="{2BEFD21C-1709-6BEF-2769-1C4425CD5426}"/>
              </a:ext>
            </a:extLst>
          </p:cNvPr>
          <p:cNvSpPr/>
          <p:nvPr/>
        </p:nvSpPr>
        <p:spPr>
          <a:xfrm>
            <a:off x="609600" y="2791631"/>
            <a:ext cx="16307748" cy="3765286"/>
          </a:xfrm>
          <a:prstGeom prst="rect">
            <a:avLst/>
          </a:prstGeom>
          <a:noFill/>
          <a:ln/>
        </p:spPr>
        <p:txBody>
          <a:bodyPr wrap="square" lIns="0" tIns="0" rIns="0" bIns="0" rtlCol="0" anchor="ctr">
            <a:normAutofit/>
          </a:bodyPr>
          <a:lstStyle/>
          <a:p>
            <a:pPr algn="ctr"/>
            <a:r>
              <a:rPr lang="en-US" sz="6600" b="1" dirty="0">
                <a:solidFill>
                  <a:srgbClr val="FFFF00"/>
                </a:solidFill>
                <a:latin typeface="Times New Roman" panose="02020603050405020304" pitchFamily="18" charset="0"/>
                <a:ea typeface="Montserrat" pitchFamily="34" charset="-122"/>
                <a:cs typeface="Times New Roman" panose="02020603050405020304" pitchFamily="18" charset="0"/>
              </a:rPr>
              <a:t>“CÔNG NGHỆ CHỈ THỰC SỰ TỎA SÁNG</a:t>
            </a:r>
            <a:endParaRPr lang="en-US" sz="6600" dirty="0">
              <a:solidFill>
                <a:srgbClr val="FFFF00"/>
              </a:solidFill>
              <a:latin typeface="Times New Roman" panose="02020603050405020304" pitchFamily="18" charset="0"/>
              <a:cs typeface="Times New Roman" panose="02020603050405020304" pitchFamily="18" charset="0"/>
            </a:endParaRPr>
          </a:p>
          <a:p>
            <a:pPr algn="ctr"/>
            <a:r>
              <a:rPr lang="en-US" sz="6600" b="1" dirty="0">
                <a:solidFill>
                  <a:srgbClr val="FFFF00"/>
                </a:solidFill>
                <a:latin typeface="Times New Roman" panose="02020603050405020304" pitchFamily="18" charset="0"/>
                <a:ea typeface="Montserrat" pitchFamily="34" charset="-122"/>
                <a:cs typeface="Times New Roman" panose="02020603050405020304" pitchFamily="18" charset="0"/>
              </a:rPr>
              <a:t>KHI NÓ CHẠM VÀO BÓNG TỐI</a:t>
            </a:r>
            <a:endParaRPr lang="en-US" sz="6600" dirty="0">
              <a:solidFill>
                <a:srgbClr val="FFFF00"/>
              </a:solidFill>
              <a:latin typeface="Times New Roman" panose="02020603050405020304" pitchFamily="18" charset="0"/>
              <a:cs typeface="Times New Roman" panose="02020603050405020304" pitchFamily="18" charset="0"/>
            </a:endParaRPr>
          </a:p>
          <a:p>
            <a:pPr algn="ctr"/>
            <a:r>
              <a:rPr lang="en-US" sz="6600" b="1" dirty="0">
                <a:solidFill>
                  <a:srgbClr val="FFFF00"/>
                </a:solidFill>
                <a:latin typeface="Times New Roman" panose="02020603050405020304" pitchFamily="18" charset="0"/>
                <a:ea typeface="Montserrat" pitchFamily="34" charset="-122"/>
                <a:cs typeface="Times New Roman" panose="02020603050405020304" pitchFamily="18" charset="0"/>
              </a:rPr>
              <a:t>ĐỂ KHÔNG AI BỊ BỎ LẠI PHÍA SAU.”</a:t>
            </a:r>
            <a:endParaRPr lang="en-US" sz="6600" dirty="0">
              <a:solidFill>
                <a:srgbClr val="FFFF00"/>
              </a:solidFill>
              <a:latin typeface="Times New Roman" panose="02020603050405020304" pitchFamily="18" charset="0"/>
              <a:cs typeface="Times New Roman" panose="02020603050405020304" pitchFamily="18" charset="0"/>
            </a:endParaRPr>
          </a:p>
        </p:txBody>
      </p:sp>
      <p:sp>
        <p:nvSpPr>
          <p:cNvPr id="10" name="Text 3">
            <a:extLst>
              <a:ext uri="{FF2B5EF4-FFF2-40B4-BE49-F238E27FC236}">
                <a16:creationId xmlns:a16="http://schemas.microsoft.com/office/drawing/2014/main" id="{02326BD3-A564-22C3-BF96-27D3B789FD6F}"/>
              </a:ext>
            </a:extLst>
          </p:cNvPr>
          <p:cNvSpPr/>
          <p:nvPr/>
        </p:nvSpPr>
        <p:spPr>
          <a:xfrm>
            <a:off x="5253843" y="8199948"/>
            <a:ext cx="7772400" cy="549984"/>
          </a:xfrm>
          <a:prstGeom prst="rect">
            <a:avLst/>
          </a:prstGeom>
          <a:noFill/>
          <a:ln/>
        </p:spPr>
        <p:txBody>
          <a:bodyPr wrap="square" lIns="0" tIns="0" rIns="0" bIns="0" rtlCol="0" anchor="ctr"/>
          <a:lstStyle/>
          <a:p>
            <a:pPr algn="ctr"/>
            <a:r>
              <a:rPr lang="en-US" sz="5400" b="1" dirty="0">
                <a:solidFill>
                  <a:srgbClr val="C00000"/>
                </a:solidFill>
                <a:latin typeface="Times New Roman" panose="02020603050405020304" pitchFamily="18" charset="0"/>
                <a:cs typeface="Times New Roman" panose="02020603050405020304" pitchFamily="18" charset="0"/>
              </a:rPr>
              <a:t>Xin trân trọng </a:t>
            </a:r>
            <a:r>
              <a:rPr lang="en-US" sz="5400" b="1" dirty="0" err="1">
                <a:solidFill>
                  <a:srgbClr val="C00000"/>
                </a:solidFill>
                <a:latin typeface="Times New Roman" panose="02020603050405020304" pitchFamily="18" charset="0"/>
                <a:cs typeface="Times New Roman" panose="02020603050405020304" pitchFamily="18" charset="0"/>
              </a:rPr>
              <a:t>cảm</a:t>
            </a:r>
            <a:r>
              <a:rPr lang="en-US" sz="5400" b="1" dirty="0">
                <a:solidFill>
                  <a:srgbClr val="C00000"/>
                </a:solidFill>
                <a:latin typeface="Times New Roman" panose="02020603050405020304" pitchFamily="18" charset="0"/>
                <a:cs typeface="Times New Roman" panose="02020603050405020304" pitchFamily="18" charset="0"/>
              </a:rPr>
              <a:t> </a:t>
            </a:r>
            <a:r>
              <a:rPr lang="en-US" sz="5400" b="1" dirty="0" err="1">
                <a:solidFill>
                  <a:srgbClr val="C00000"/>
                </a:solidFill>
                <a:latin typeface="Times New Roman" panose="02020603050405020304" pitchFamily="18" charset="0"/>
                <a:cs typeface="Times New Roman" panose="02020603050405020304" pitchFamily="18" charset="0"/>
              </a:rPr>
              <a:t>ơn</a:t>
            </a:r>
            <a:r>
              <a:rPr lang="en-US" sz="5400" b="1" dirty="0">
                <a:solidFill>
                  <a:srgbClr val="C0000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50042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384</TotalTime>
  <Words>656</Words>
  <Application>Microsoft Macintosh PowerPoint</Application>
  <PresentationFormat>Custom</PresentationFormat>
  <Paragraphs>104</Paragraphs>
  <Slides>13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Palatino Linotype</vt:lpstr>
      <vt:lpstr>Bevan</vt:lpstr>
      <vt:lpstr>Times New Roman</vt:lpstr>
      <vt:lpstr>Calibri</vt:lpstr>
      <vt:lpstr>Wingdings</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VÒNG CHUNG KẾT</dc:title>
  <cp:lastModifiedBy>PHAN ANH</cp:lastModifiedBy>
  <cp:revision>26</cp:revision>
  <dcterms:created xsi:type="dcterms:W3CDTF">2006-08-16T00:00:00Z</dcterms:created>
  <dcterms:modified xsi:type="dcterms:W3CDTF">2026-06-18T00:12:08Z</dcterms:modified>
  <dc:identifier>DAHMy88FHt4</dc:identifier>
</cp:coreProperties>
</file>